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0"/>
  </p:notesMasterIdLst>
  <p:sldIdLst>
    <p:sldId id="287" r:id="rId2"/>
    <p:sldId id="299" r:id="rId3"/>
    <p:sldId id="285" r:id="rId4"/>
    <p:sldId id="300" r:id="rId5"/>
    <p:sldId id="289" r:id="rId6"/>
    <p:sldId id="301" r:id="rId7"/>
    <p:sldId id="298" r:id="rId8"/>
    <p:sldId id="30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695"/>
  </p:normalViewPr>
  <p:slideViewPr>
    <p:cSldViewPr snapToGrid="0">
      <p:cViewPr varScale="1">
        <p:scale>
          <a:sx n="101" d="100"/>
          <a:sy n="101" d="100"/>
        </p:scale>
        <p:origin x="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开场只讲业务：这不是一个写作插件，而是一套可运营、可管控的内容秘书处。</a:t>
            </a:r>
          </a:p>
          <a:p>
            <a:endParaRPr/>
          </a:p>
          <a:p>
            <a:r>
              <a:t>[Sources]</a:t>
            </a:r>
          </a:p>
          <a:p>
            <a:r>
              <a:t>- /Users/birdy/NyquisteProjects/weixin-blog-publish/docs/weixin-blog-business-architecture.drawio</a:t>
            </a:r>
          </a:p>
          <a:p>
            <a:r>
              <a:t>- /Users/birdy/NyquisteProjects/weixin-blog-publish/CONTEXT.md</a:t>
            </a:r>
          </a:p>
          <a:p>
            <a:r>
              <a:t>- User-provided Nyquiste AI account, donation, and contribution policy background, 2026-07-27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强调这是组织治理问题，而不仅是账号采购或费用报销问题。本页不构成法律意见。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Nyquiste AI account ownership and compliance background, 2026-07-27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两条路径都构成认可依据，但用户尚未明确 AND/OR 规则，因此在图中保留为管理层待决事项。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definitions of donation, contribution, recognized users, and account usage rights, 2026-07-27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这是与业务方共同确认的原图，不是为 PPT 重新抽象的版本。</a:t>
            </a:r>
          </a:p>
          <a:p>
            <a:endParaRPr/>
          </a:p>
          <a:p>
            <a:r>
              <a:t>[Sources]</a:t>
            </a:r>
          </a:p>
          <a:p>
            <a:r>
              <a:t>- /Users/birdy/NyquisteProjects/weixin-blog-publish/docs/weixin-blog-business-architecture.drawio</a:t>
            </a:r>
          </a:p>
          <a:p>
            <a:r>
              <a:t>- /Users/birdy/.codex/visualizations/2026/07/27/019fa439-0b2b-7043-a0ce-c8489f950579/weixin-blog-business-overview.html</a:t>
            </a:r>
          </a:p>
          <a:p>
            <a:r>
              <a:t>- /Users/birdy/NyquisteProjects/weixin-blog-publish/.tmp/business-briefing/business-architecture.png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投稿格式来自真实 tracer：包含 #投稿、author.name、洗稿指令和公众号文章卡片。</a:t>
            </a:r>
          </a:p>
          <a:p>
            <a:endParaRPr/>
          </a:p>
          <a:p>
            <a:r>
              <a:t>[Sources]</a:t>
            </a:r>
          </a:p>
          <a:p>
            <a:r>
              <a:t>- /Users/birdy/NyquisteProjects/weixin-blog-publish/docs/validation/2026-07-24-macos-wechat-full-article-tracer.md</a:t>
            </a:r>
          </a:p>
          <a:p>
            <a:r>
              <a:t>- /Users/birdy/NyquisteProjects/weixin-blog-publish/skills/process-weixin-submissions/SKILL.md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五项动作来自当前项目实际 Skill 与任务库设计。</a:t>
            </a:r>
          </a:p>
          <a:p>
            <a:endParaRPr/>
          </a:p>
          <a:p>
            <a:r>
              <a:t>[Sources]</a:t>
            </a:r>
          </a:p>
          <a:p>
            <a:r>
              <a:t>- /Users/birdy/NyquisteProjects/weixin-blog-publish/skills/process-weixin-submissions/SKILL.md</a:t>
            </a:r>
          </a:p>
          <a:p>
            <a:r>
              <a:t>- /Users/birdy/NyquisteProjects/weixin-blog-publish/docs/adr/0009-separate-content-work-from-opt-in-publication.md</a:t>
            </a:r>
          </a:p>
          <a:p>
            <a:r>
              <a:t>- /Users/birdy/NyquisteProjects/weixin-blog-publish/docs/task-repository-layout.md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这一层是把内容贡献转化为组织证据的关键：谁、何时、提交什么、形成什么结果，都有独立记录。</a:t>
            </a:r>
          </a:p>
          <a:p>
            <a:endParaRPr/>
          </a:p>
          <a:p>
            <a:r>
              <a:t>[Sources]</a:t>
            </a:r>
          </a:p>
          <a:p>
            <a:r>
              <a:t>- /Users/birdy/NyquisteProjects/weixin-blog-publish/docs/task-repository-layout.md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master-accent-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B55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master-header-rule"/>
          <p:cNvSpPr/>
          <p:nvPr/>
        </p:nvSpPr>
        <p:spPr>
          <a:xfrm>
            <a:off x="406400" y="1498600"/>
            <a:ext cx="11379200" cy="9525"/>
          </a:xfrm>
          <a:prstGeom prst="rect">
            <a:avLst/>
          </a:prstGeom>
          <a:solidFill>
            <a:srgbClr val="DED5C9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rgbClr val="2A2622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rgbClr val="3E3833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rgbClr val="3E3833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rgbClr val="3E3833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rgbClr val="3E3833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rgbClr val="3E3833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rgbClr val="3E3833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rgbClr val="3E3833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rgbClr val="3E3833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rgbClr val="3E3833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ver-rule-mask">
            <a:extLst>
              <a:ext uri="{FF2B5EF4-FFF2-40B4-BE49-F238E27FC236}">
                <a16:creationId xmlns:a16="http://schemas.microsoft.com/office/drawing/2014/main" id="{3EFDFC76-58B5-E44B-86A7-F4B47E6F3551}"/>
              </a:ext>
            </a:extLst>
          </p:cNvPr>
          <p:cNvSpPr/>
          <p:nvPr/>
        </p:nvSpPr>
        <p:spPr>
          <a:xfrm>
            <a:off x="0" y="1397000"/>
            <a:ext cx="12192000" cy="203200"/>
          </a:xfrm>
          <a:prstGeom prst="rect">
            <a:avLst/>
          </a:prstGeom>
          <a:solidFill>
            <a:srgbClr val="F7F3ED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8CFD26A0-C652-450C-AF87-0919EB9EF1BD}"/>
              </a:ext>
            </a:extLst>
          </p:cNvPr>
          <p:cNvSpPr>
            <a:spLocks noGrp="1"/>
          </p:cNvSpPr>
          <p:nvPr/>
        </p:nvSpPr>
        <p:spPr>
          <a:xfrm>
            <a:off x="965200" y="2489200"/>
            <a:ext cx="9652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44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微信投稿抓取</a:t>
            </a:r>
            <a:r>
              <a:rPr lang="en-US" altLang="zh-CN" sz="44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-</a:t>
            </a:r>
            <a:r>
              <a:rPr lang="zh-CN" altLang="en-US" sz="44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洗稿</a:t>
            </a:r>
            <a:r>
              <a:rPr lang="en-US" altLang="zh-CN" sz="44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-</a:t>
            </a:r>
            <a:r>
              <a:rPr lang="zh-CN" altLang="en-US" sz="44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博客发布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9BEF8EB0-B697-4588-BADD-E2AEBCDD18EE}"/>
              </a:ext>
            </a:extLst>
          </p:cNvPr>
          <p:cNvSpPr>
            <a:spLocks noGrp="1"/>
          </p:cNvSpPr>
          <p:nvPr/>
        </p:nvSpPr>
        <p:spPr>
          <a:xfrm>
            <a:off x="965200" y="4267200"/>
            <a:ext cx="838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8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微信数据 “挖掘</a:t>
            </a:r>
            <a:r>
              <a:rPr lang="en-US" altLang="zh-CN" sz="18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-</a:t>
            </a:r>
            <a:r>
              <a:rPr lang="zh-CN" altLang="en-US" sz="18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分析</a:t>
            </a:r>
            <a:r>
              <a:rPr lang="en-US" altLang="zh-CN" sz="18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-</a:t>
            </a:r>
            <a:r>
              <a:rPr lang="zh-CN" altLang="en-US" sz="18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发布” 自动化：场景 </a:t>
            </a:r>
            <a:r>
              <a:rPr lang="en-US" altLang="zh-CN" sz="18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#1</a:t>
            </a:r>
            <a:endParaRPr sz="1800" b="0" dirty="0">
              <a:solidFill>
                <a:srgbClr val="635B54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02" name="cover-divider"/>
          <p:cNvSpPr/>
          <p:nvPr/>
        </p:nvSpPr>
        <p:spPr>
          <a:xfrm>
            <a:off x="965200" y="5334000"/>
            <a:ext cx="9906000" cy="9525"/>
          </a:xfrm>
          <a:prstGeom prst="rect">
            <a:avLst/>
          </a:prstGeom>
          <a:solidFill>
            <a:srgbClr val="DED5C9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4971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c-kicker"/>
          <p:cNvSpPr txBox="1"/>
          <p:nvPr/>
        </p:nvSpPr>
        <p:spPr>
          <a:xfrm>
            <a:off x="406400" y="292100"/>
            <a:ext cx="3619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000" b="1" spc="120" dirty="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Nyquiste AI 全球全家桶</a:t>
            </a:r>
          </a:p>
        </p:txBody>
      </p:sp>
      <p:sp>
        <p:nvSpPr>
          <p:cNvPr id="11" name="toc-title"/>
          <p:cNvSpPr txBox="1"/>
          <p:nvPr/>
        </p:nvSpPr>
        <p:spPr>
          <a:xfrm>
            <a:off x="406400" y="596900"/>
            <a:ext cx="11049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zh-CN" sz="30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12" name="toc-number"/>
          <p:cNvSpPr txBox="1"/>
          <p:nvPr/>
        </p:nvSpPr>
        <p:spPr>
          <a:xfrm>
            <a:off x="11239500" y="6311900"/>
            <a:ext cx="5588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zh-CN" sz="1000" b="1" spc="8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3" name="toc-num-1"/>
          <p:cNvSpPr txBox="1"/>
          <p:nvPr/>
        </p:nvSpPr>
        <p:spPr>
          <a:xfrm>
            <a:off x="406400" y="19558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050" b="1" spc="80" dirty="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4" name="toc-item-title-1"/>
          <p:cNvSpPr txBox="1"/>
          <p:nvPr/>
        </p:nvSpPr>
        <p:spPr>
          <a:xfrm>
            <a:off x="990600" y="1905000"/>
            <a:ext cx="4902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7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账号使用权的业务依据</a:t>
            </a:r>
          </a:p>
        </p:txBody>
      </p:sp>
      <p:sp>
        <p:nvSpPr>
          <p:cNvPr id="15" name="toc-item-body-1"/>
          <p:cNvSpPr txBox="1"/>
          <p:nvPr/>
        </p:nvSpPr>
        <p:spPr>
          <a:xfrm>
            <a:off x="990600" y="2362200"/>
            <a:ext cx="490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13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账号归属、资格依据与往来留痕</a:t>
            </a:r>
          </a:p>
        </p:txBody>
      </p:sp>
      <p:cxnSp>
        <p:nvCxnSpPr>
          <p:cNvPr id="16" name="toc-rule-1"/>
          <p:cNvCxnSpPr/>
          <p:nvPr/>
        </p:nvCxnSpPr>
        <p:spPr>
          <a:xfrm>
            <a:off x="406400" y="2870200"/>
            <a:ext cx="5486400" cy="0"/>
          </a:xfrm>
          <a:prstGeom prst="line">
            <a:avLst/>
          </a:prstGeom>
          <a:ln w="9525">
            <a:solidFill>
              <a:srgbClr val="DED5C9"/>
            </a:solidFill>
          </a:ln>
        </p:spPr>
      </p:cxnSp>
      <p:sp>
        <p:nvSpPr>
          <p:cNvPr id="17" name="toc-num-2"/>
          <p:cNvSpPr txBox="1"/>
          <p:nvPr/>
        </p:nvSpPr>
        <p:spPr>
          <a:xfrm>
            <a:off x="406400" y="33274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050" b="1" spc="80" dirty="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8" name="toc-item-title-2"/>
          <p:cNvSpPr txBox="1"/>
          <p:nvPr/>
        </p:nvSpPr>
        <p:spPr>
          <a:xfrm>
            <a:off x="990600" y="3276600"/>
            <a:ext cx="4902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7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捐赠 + 内容贡献的认可模型</a:t>
            </a:r>
          </a:p>
        </p:txBody>
      </p:sp>
      <p:sp>
        <p:nvSpPr>
          <p:cNvPr id="19" name="toc-item-body-2"/>
          <p:cNvSpPr txBox="1"/>
          <p:nvPr/>
        </p:nvSpPr>
        <p:spPr>
          <a:xfrm>
            <a:off x="990600" y="3733800"/>
            <a:ext cx="490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13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组织如何形成用户认可依据</a:t>
            </a:r>
          </a:p>
        </p:txBody>
      </p:sp>
      <p:cxnSp>
        <p:nvCxnSpPr>
          <p:cNvPr id="20" name="toc-rule-2"/>
          <p:cNvCxnSpPr/>
          <p:nvPr/>
        </p:nvCxnSpPr>
        <p:spPr>
          <a:xfrm>
            <a:off x="406400" y="4241800"/>
            <a:ext cx="5486400" cy="0"/>
          </a:xfrm>
          <a:prstGeom prst="line">
            <a:avLst/>
          </a:prstGeom>
          <a:ln w="9525">
            <a:solidFill>
              <a:srgbClr val="DED5C9"/>
            </a:solidFill>
          </a:ln>
        </p:spPr>
      </p:cxnSp>
      <p:sp>
        <p:nvSpPr>
          <p:cNvPr id="21" name="toc-num-3"/>
          <p:cNvSpPr txBox="1"/>
          <p:nvPr/>
        </p:nvSpPr>
        <p:spPr>
          <a:xfrm>
            <a:off x="406400" y="4699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050" b="1" spc="80" dirty="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2" name="toc-item-title-3"/>
          <p:cNvSpPr txBox="1"/>
          <p:nvPr/>
        </p:nvSpPr>
        <p:spPr>
          <a:xfrm>
            <a:off x="990600" y="4648200"/>
            <a:ext cx="4902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7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秘书处的业务架构</a:t>
            </a:r>
          </a:p>
        </p:txBody>
      </p:sp>
      <p:sp>
        <p:nvSpPr>
          <p:cNvPr id="23" name="toc-item-body-3"/>
          <p:cNvSpPr txBox="1"/>
          <p:nvPr/>
        </p:nvSpPr>
        <p:spPr>
          <a:xfrm>
            <a:off x="990600" y="5105400"/>
            <a:ext cx="490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13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用户、员工与 Agent 的分工</a:t>
            </a:r>
          </a:p>
        </p:txBody>
      </p:sp>
      <p:cxnSp>
        <p:nvCxnSpPr>
          <p:cNvPr id="24" name="toc-rule-3"/>
          <p:cNvCxnSpPr/>
          <p:nvPr/>
        </p:nvCxnSpPr>
        <p:spPr>
          <a:xfrm>
            <a:off x="406400" y="5613400"/>
            <a:ext cx="5486400" cy="0"/>
          </a:xfrm>
          <a:prstGeom prst="line">
            <a:avLst/>
          </a:prstGeom>
          <a:ln w="9525">
            <a:solidFill>
              <a:srgbClr val="DED5C9"/>
            </a:solidFill>
          </a:ln>
        </p:spPr>
      </p:cxnSp>
      <p:sp>
        <p:nvSpPr>
          <p:cNvPr id="25" name="toc-num-4"/>
          <p:cNvSpPr txBox="1"/>
          <p:nvPr/>
        </p:nvSpPr>
        <p:spPr>
          <a:xfrm>
            <a:off x="6299200" y="19558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050" b="1" spc="80" dirty="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6" name="toc-item-title-4"/>
          <p:cNvSpPr txBox="1"/>
          <p:nvPr/>
        </p:nvSpPr>
        <p:spPr>
          <a:xfrm>
            <a:off x="6883400" y="1905000"/>
            <a:ext cx="4902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7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投稿进入秘书处的路径</a:t>
            </a:r>
          </a:p>
        </p:txBody>
      </p:sp>
      <p:sp>
        <p:nvSpPr>
          <p:cNvPr id="27" name="toc-item-body-4"/>
          <p:cNvSpPr txBox="1"/>
          <p:nvPr/>
        </p:nvSpPr>
        <p:spPr>
          <a:xfrm>
            <a:off x="6883400" y="2362200"/>
            <a:ext cx="490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13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一条真实投稿的实际流转</a:t>
            </a:r>
          </a:p>
        </p:txBody>
      </p:sp>
      <p:cxnSp>
        <p:nvCxnSpPr>
          <p:cNvPr id="28" name="toc-rule-4"/>
          <p:cNvCxnSpPr/>
          <p:nvPr/>
        </p:nvCxnSpPr>
        <p:spPr>
          <a:xfrm>
            <a:off x="6299200" y="2870200"/>
            <a:ext cx="5486400" cy="0"/>
          </a:xfrm>
          <a:prstGeom prst="line">
            <a:avLst/>
          </a:prstGeom>
          <a:ln w="9525">
            <a:solidFill>
              <a:srgbClr val="DED5C9"/>
            </a:solidFill>
          </a:ln>
        </p:spPr>
      </p:cxnSp>
      <p:sp>
        <p:nvSpPr>
          <p:cNvPr id="29" name="toc-num-5"/>
          <p:cNvSpPr txBox="1"/>
          <p:nvPr/>
        </p:nvSpPr>
        <p:spPr>
          <a:xfrm>
            <a:off x="6299200" y="33274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050" b="1" spc="80" dirty="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0" name="toc-item-title-5"/>
          <p:cNvSpPr txBox="1"/>
          <p:nvPr/>
        </p:nvSpPr>
        <p:spPr>
          <a:xfrm>
            <a:off x="6883400" y="3276600"/>
            <a:ext cx="4902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7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Agent 的五项业务动作</a:t>
            </a:r>
          </a:p>
        </p:txBody>
      </p:sp>
      <p:sp>
        <p:nvSpPr>
          <p:cNvPr id="31" name="toc-item-body-5"/>
          <p:cNvSpPr txBox="1"/>
          <p:nvPr/>
        </p:nvSpPr>
        <p:spPr>
          <a:xfrm>
            <a:off x="6883400" y="3733800"/>
            <a:ext cx="490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13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识别、抓取、洗稿、留档、发布</a:t>
            </a:r>
          </a:p>
        </p:txBody>
      </p:sp>
      <p:cxnSp>
        <p:nvCxnSpPr>
          <p:cNvPr id="32" name="toc-rule-5"/>
          <p:cNvCxnSpPr/>
          <p:nvPr/>
        </p:nvCxnSpPr>
        <p:spPr>
          <a:xfrm>
            <a:off x="6299200" y="4241800"/>
            <a:ext cx="5486400" cy="0"/>
          </a:xfrm>
          <a:prstGeom prst="line">
            <a:avLst/>
          </a:prstGeom>
          <a:ln w="9525">
            <a:solidFill>
              <a:srgbClr val="DED5C9"/>
            </a:solidFill>
          </a:ln>
        </p:spPr>
      </p:cxnSp>
      <p:sp>
        <p:nvSpPr>
          <p:cNvPr id="33" name="toc-num-6"/>
          <p:cNvSpPr txBox="1"/>
          <p:nvPr/>
        </p:nvSpPr>
        <p:spPr>
          <a:xfrm>
            <a:off x="6299200" y="4699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050" b="1" spc="80" dirty="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34" name="toc-item-title-6"/>
          <p:cNvSpPr txBox="1"/>
          <p:nvPr/>
        </p:nvSpPr>
        <p:spPr>
          <a:xfrm>
            <a:off x="6883400" y="4648200"/>
            <a:ext cx="4902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7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本地任务库与可核验记录</a:t>
            </a:r>
          </a:p>
        </p:txBody>
      </p:sp>
      <p:sp>
        <p:nvSpPr>
          <p:cNvPr id="35" name="toc-item-body-6"/>
          <p:cNvSpPr txBox="1"/>
          <p:nvPr/>
        </p:nvSpPr>
        <p:spPr>
          <a:xfrm>
            <a:off x="6883400" y="5105400"/>
            <a:ext cx="490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13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runs / tasks / publications</a:t>
            </a:r>
          </a:p>
        </p:txBody>
      </p:sp>
      <p:cxnSp>
        <p:nvCxnSpPr>
          <p:cNvPr id="36" name="toc-rule-6"/>
          <p:cNvCxnSpPr/>
          <p:nvPr/>
        </p:nvCxnSpPr>
        <p:spPr>
          <a:xfrm>
            <a:off x="6299200" y="5613400"/>
            <a:ext cx="5486400" cy="0"/>
          </a:xfrm>
          <a:prstGeom prst="line">
            <a:avLst/>
          </a:prstGeom>
          <a:ln w="9525">
            <a:solidFill>
              <a:srgbClr val="DED5C9"/>
            </a:solidFill>
          </a:ln>
        </p:spPr>
      </p:cxnSp>
    </p:spTree>
    <p:extLst>
      <p:ext uri="{BB962C8B-B14F-4D97-AF65-F5344CB8AC3E}">
        <p14:creationId xmlns:p14="http://schemas.microsoft.com/office/powerpoint/2010/main" val="2788373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eft-support-card">
            <a:extLst>
              <a:ext uri="{FF2B5EF4-FFF2-40B4-BE49-F238E27FC236}">
                <a16:creationId xmlns:a16="http://schemas.microsoft.com/office/drawing/2014/main" id="{82A0B8D8-D5A1-0B42-A808-FF91F170390F}"/>
              </a:ext>
            </a:extLst>
          </p:cNvPr>
          <p:cNvSpPr/>
          <p:nvPr/>
        </p:nvSpPr>
        <p:spPr>
          <a:xfrm>
            <a:off x="711200" y="3276600"/>
            <a:ext cx="6604000" cy="2413000"/>
          </a:xfrm>
          <a:prstGeom prst="rect">
            <a:avLst/>
          </a:prstGeom>
          <a:solidFill>
            <a:srgbClr val="EFE7DA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slide-2-kicker">
            <a:extLst>
              <a:ext uri="{FF2B5EF4-FFF2-40B4-BE49-F238E27FC236}">
                <a16:creationId xmlns:a16="http://schemas.microsoft.com/office/drawing/2014/main" id="{6EE6C12A-8825-40A3-9B5E-3E4087057878}"/>
              </a:ext>
            </a:extLst>
          </p:cNvPr>
          <p:cNvSpPr>
            <a:spLocks noGrp="1"/>
          </p:cNvSpPr>
          <p:nvPr/>
        </p:nvSpPr>
        <p:spPr>
          <a:xfrm>
            <a:off x="711200" y="508000"/>
            <a:ext cx="508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20000"/>
          </a:bodyPr>
          <a:lstStyle/>
          <a:p>
            <a:pPr algn="l">
              <a:lnSpc>
                <a:spcPct val="120000"/>
              </a:lnSpc>
            </a:pPr>
            <a:r>
              <a:rPr lang="zh-CN" sz="1000" b="1" spc="120" dirty="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NYQUISTE AI 全球全家桶</a:t>
            </a:r>
          </a:p>
        </p:txBody>
      </p:sp>
      <p:sp>
        <p:nvSpPr>
          <p:cNvPr id="2" name="slide-2-title">
            <a:extLst>
              <a:ext uri="{FF2B5EF4-FFF2-40B4-BE49-F238E27FC236}">
                <a16:creationId xmlns:a16="http://schemas.microsoft.com/office/drawing/2014/main" id="{D6C55C65-7494-49C1-9E29-0AB211E2C2A5}"/>
              </a:ext>
            </a:extLst>
          </p:cNvPr>
          <p:cNvSpPr>
            <a:spLocks noGrp="1"/>
          </p:cNvSpPr>
          <p:nvPr/>
        </p:nvSpPr>
        <p:spPr>
          <a:xfrm>
            <a:off x="711200" y="787400"/>
            <a:ext cx="10795000" cy="584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lang="zh-CN" sz="30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账号使用权需要一套清晰、可审计的业务依据</a:t>
            </a:r>
          </a:p>
        </p:txBody>
      </p:sp>
      <p:sp>
        <p:nvSpPr>
          <p:cNvPr id="3" name="slide-2-number">
            <a:extLst>
              <a:ext uri="{FF2B5EF4-FFF2-40B4-BE49-F238E27FC236}">
                <a16:creationId xmlns:a16="http://schemas.microsoft.com/office/drawing/2014/main" id="{B69EFDEF-42DA-4AB1-A943-F80908B38527}"/>
              </a:ext>
            </a:extLst>
          </p:cNvPr>
          <p:cNvSpPr>
            <a:spLocks noGrp="1"/>
          </p:cNvSpPr>
          <p:nvPr/>
        </p:nvSpPr>
        <p:spPr>
          <a:xfrm>
            <a:off x="10947400" y="6273800"/>
            <a:ext cx="558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611"/>
          </a:bodyPr>
          <a:lstStyle/>
          <a:p>
            <a:pPr algn="r"/>
            <a:r>
              <a:rPr lang="en-US" sz="1000" b="1" spc="8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4" name="account-context-claim">
            <a:extLst>
              <a:ext uri="{FF2B5EF4-FFF2-40B4-BE49-F238E27FC236}">
                <a16:creationId xmlns:a16="http://schemas.microsoft.com/office/drawing/2014/main" id="{2EE89F27-95AB-4C38-B94C-0C10E1814D6A}"/>
              </a:ext>
            </a:extLst>
          </p:cNvPr>
          <p:cNvSpPr>
            <a:spLocks noGrp="1"/>
          </p:cNvSpPr>
          <p:nvPr/>
        </p:nvSpPr>
        <p:spPr>
          <a:xfrm>
            <a:off x="965200" y="1905000"/>
            <a:ext cx="6350000" cy="88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lang="zh-CN" sz="1500" b="0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订阅账号注册在 lsforum / lsdforum 名下域名，组织必须能够解释：谁在使用、为何取得、对应款项与贡献如何留痕。</a:t>
            </a:r>
          </a:p>
        </p:txBody>
      </p:sp>
      <p:sp>
        <p:nvSpPr>
          <p:cNvPr id="5" name="account-context-divider">
            <a:extLst>
              <a:ext uri="{FF2B5EF4-FFF2-40B4-BE49-F238E27FC236}">
                <a16:creationId xmlns:a16="http://schemas.microsoft.com/office/drawing/2014/main" id="{585D7888-5EB1-4FFB-834C-98FC5438D0EB}"/>
              </a:ext>
            </a:extLst>
          </p:cNvPr>
          <p:cNvSpPr>
            <a:spLocks noGrp="1"/>
          </p:cNvSpPr>
          <p:nvPr/>
        </p:nvSpPr>
        <p:spPr>
          <a:xfrm>
            <a:off x="7874000" y="1879600"/>
            <a:ext cx="0" cy="3810000"/>
          </a:xfrm>
          <a:prstGeom prst="line">
            <a:avLst/>
          </a:prstGeom>
          <a:noFill/>
          <a:ln w="12700">
            <a:solidFill>
              <a:srgbClr val="DED5C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ccount-point-num-1">
            <a:extLst>
              <a:ext uri="{FF2B5EF4-FFF2-40B4-BE49-F238E27FC236}">
                <a16:creationId xmlns:a16="http://schemas.microsoft.com/office/drawing/2014/main" id="{B251EECB-219C-43C5-8897-63A5E84B4402}"/>
              </a:ext>
            </a:extLst>
          </p:cNvPr>
          <p:cNvSpPr>
            <a:spLocks noGrp="1"/>
          </p:cNvSpPr>
          <p:nvPr/>
        </p:nvSpPr>
        <p:spPr>
          <a:xfrm>
            <a:off x="8432800" y="1981200"/>
            <a:ext cx="431800" cy="203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20000"/>
          </a:bodyPr>
          <a:lstStyle/>
          <a:p>
            <a:pPr algn="l"/>
            <a:r>
              <a:rPr lang="en-US" sz="1050" b="1" spc="80" dirty="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7" name="account-point-title-1">
            <a:extLst>
              <a:ext uri="{FF2B5EF4-FFF2-40B4-BE49-F238E27FC236}">
                <a16:creationId xmlns:a16="http://schemas.microsoft.com/office/drawing/2014/main" id="{4E171138-8957-429A-ACC3-4DF6ADE22FD1}"/>
              </a:ext>
            </a:extLst>
          </p:cNvPr>
          <p:cNvSpPr>
            <a:spLocks noGrp="1"/>
          </p:cNvSpPr>
          <p:nvPr/>
        </p:nvSpPr>
        <p:spPr>
          <a:xfrm>
            <a:off x="8966200" y="1930400"/>
            <a:ext cx="2667000" cy="33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24" lnSpcReduction="10000"/>
          </a:bodyPr>
          <a:lstStyle/>
          <a:p>
            <a:pPr algn="l"/>
            <a:r>
              <a:rPr lang="zh-CN" sz="17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账号归属组织</a:t>
            </a:r>
          </a:p>
        </p:txBody>
      </p:sp>
      <p:sp>
        <p:nvSpPr>
          <p:cNvPr id="8" name="account-point-body-1">
            <a:extLst>
              <a:ext uri="{FF2B5EF4-FFF2-40B4-BE49-F238E27FC236}">
                <a16:creationId xmlns:a16="http://schemas.microsoft.com/office/drawing/2014/main" id="{F96DBA65-257C-440F-8979-F26CC1815053}"/>
              </a:ext>
            </a:extLst>
          </p:cNvPr>
          <p:cNvSpPr>
            <a:spLocks noGrp="1"/>
          </p:cNvSpPr>
          <p:nvPr/>
        </p:nvSpPr>
        <p:spPr>
          <a:xfrm>
            <a:off x="8966200" y="2336800"/>
            <a:ext cx="26924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zh-CN" sz="13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用户获得的是账号使用权，而非账号所有权。</a:t>
            </a:r>
          </a:p>
        </p:txBody>
      </p:sp>
      <p:sp>
        <p:nvSpPr>
          <p:cNvPr id="9" name="account-point-num-2">
            <a:extLst>
              <a:ext uri="{FF2B5EF4-FFF2-40B4-BE49-F238E27FC236}">
                <a16:creationId xmlns:a16="http://schemas.microsoft.com/office/drawing/2014/main" id="{F7ED370E-ACAE-46D4-9068-40C992A5173D}"/>
              </a:ext>
            </a:extLst>
          </p:cNvPr>
          <p:cNvSpPr>
            <a:spLocks noGrp="1"/>
          </p:cNvSpPr>
          <p:nvPr/>
        </p:nvSpPr>
        <p:spPr>
          <a:xfrm>
            <a:off x="8432800" y="3327400"/>
            <a:ext cx="431800" cy="203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20000"/>
          </a:bodyPr>
          <a:lstStyle/>
          <a:p>
            <a:pPr algn="l"/>
            <a:r>
              <a:rPr lang="en-US" sz="1050" b="1" spc="80" dirty="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account-point-title-2">
            <a:extLst>
              <a:ext uri="{FF2B5EF4-FFF2-40B4-BE49-F238E27FC236}">
                <a16:creationId xmlns:a16="http://schemas.microsoft.com/office/drawing/2014/main" id="{7C2945CA-E561-4737-8F88-0005922F00FA}"/>
              </a:ext>
            </a:extLst>
          </p:cNvPr>
          <p:cNvSpPr>
            <a:spLocks noGrp="1"/>
          </p:cNvSpPr>
          <p:nvPr/>
        </p:nvSpPr>
        <p:spPr>
          <a:xfrm>
            <a:off x="8966200" y="3276600"/>
            <a:ext cx="2667000" cy="33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24" lnSpcReduction="10000"/>
          </a:bodyPr>
          <a:lstStyle/>
          <a:p>
            <a:pPr algn="l"/>
            <a:r>
              <a:rPr lang="zh-CN" sz="17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资格需要依据</a:t>
            </a:r>
          </a:p>
        </p:txBody>
      </p:sp>
      <p:sp>
        <p:nvSpPr>
          <p:cNvPr id="11" name="account-point-body-2">
            <a:extLst>
              <a:ext uri="{FF2B5EF4-FFF2-40B4-BE49-F238E27FC236}">
                <a16:creationId xmlns:a16="http://schemas.microsoft.com/office/drawing/2014/main" id="{A43D39D3-BB4E-4471-86D3-3312DE8E4D34}"/>
              </a:ext>
            </a:extLst>
          </p:cNvPr>
          <p:cNvSpPr>
            <a:spLocks noGrp="1"/>
          </p:cNvSpPr>
          <p:nvPr/>
        </p:nvSpPr>
        <p:spPr>
          <a:xfrm>
            <a:off x="8966200" y="3683000"/>
            <a:ext cx="26924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zh-CN" sz="13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捐赠与内容贡献构成组织认可用户的业务依据。</a:t>
            </a:r>
          </a:p>
        </p:txBody>
      </p:sp>
      <p:sp>
        <p:nvSpPr>
          <p:cNvPr id="12" name="account-point-num-3">
            <a:extLst>
              <a:ext uri="{FF2B5EF4-FFF2-40B4-BE49-F238E27FC236}">
                <a16:creationId xmlns:a16="http://schemas.microsoft.com/office/drawing/2014/main" id="{CF89AF81-8554-4FD9-96C7-CAE84C562DFE}"/>
              </a:ext>
            </a:extLst>
          </p:cNvPr>
          <p:cNvSpPr>
            <a:spLocks noGrp="1"/>
          </p:cNvSpPr>
          <p:nvPr/>
        </p:nvSpPr>
        <p:spPr>
          <a:xfrm>
            <a:off x="8432800" y="4673600"/>
            <a:ext cx="431800" cy="203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20000"/>
          </a:bodyPr>
          <a:lstStyle/>
          <a:p>
            <a:pPr algn="l"/>
            <a:r>
              <a:rPr lang="en-US" sz="1050" b="1" spc="80" dirty="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3" name="account-point-title-3">
            <a:extLst>
              <a:ext uri="{FF2B5EF4-FFF2-40B4-BE49-F238E27FC236}">
                <a16:creationId xmlns:a16="http://schemas.microsoft.com/office/drawing/2014/main" id="{E1EBC6CC-90C5-45B4-8B62-3D4CECAE293C}"/>
              </a:ext>
            </a:extLst>
          </p:cNvPr>
          <p:cNvSpPr>
            <a:spLocks noGrp="1"/>
          </p:cNvSpPr>
          <p:nvPr/>
        </p:nvSpPr>
        <p:spPr>
          <a:xfrm>
            <a:off x="8966200" y="4622800"/>
            <a:ext cx="2667000" cy="33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24" lnSpcReduction="10000"/>
          </a:bodyPr>
          <a:lstStyle/>
          <a:p>
            <a:pPr algn="l"/>
            <a:r>
              <a:rPr lang="zh-CN" sz="1700" b="1" dirty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往来必须留痕</a:t>
            </a:r>
          </a:p>
        </p:txBody>
      </p:sp>
      <p:sp>
        <p:nvSpPr>
          <p:cNvPr id="14" name="account-point-body-3">
            <a:extLst>
              <a:ext uri="{FF2B5EF4-FFF2-40B4-BE49-F238E27FC236}">
                <a16:creationId xmlns:a16="http://schemas.microsoft.com/office/drawing/2014/main" id="{6CDA7B66-4137-4038-B3B4-C761C2403C7B}"/>
              </a:ext>
            </a:extLst>
          </p:cNvPr>
          <p:cNvSpPr>
            <a:spLocks noGrp="1"/>
          </p:cNvSpPr>
          <p:nvPr/>
        </p:nvSpPr>
        <p:spPr>
          <a:xfrm>
            <a:off x="8966200" y="5029200"/>
            <a:ext cx="26924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zh-CN" sz="1300" b="0" dirty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身份、款项、文章与账号使用资格需要能够相互核验。</a:t>
            </a:r>
          </a:p>
        </p:txBody>
      </p:sp>
      <p:sp>
        <p:nvSpPr>
          <p:cNvPr id="60" name="claim-accent-rule"/>
          <p:cNvSpPr/>
          <p:nvPr/>
        </p:nvSpPr>
        <p:spPr>
          <a:xfrm>
            <a:off x="711200" y="1930400"/>
            <a:ext cx="38100" cy="787400"/>
          </a:xfrm>
          <a:prstGeom prst="rect">
            <a:avLst/>
          </a:prstGeom>
          <a:solidFill>
            <a:srgbClr val="C887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left-support-bar">
            <a:extLst>
              <a:ext uri="{FF2B5EF4-FFF2-40B4-BE49-F238E27FC236}">
                <a16:creationId xmlns:a16="http://schemas.microsoft.com/office/drawing/2014/main" id="{599FB53E-63D3-3242-B332-DB1C10CA9247}"/>
              </a:ext>
            </a:extLst>
          </p:cNvPr>
          <p:cNvSpPr/>
          <p:nvPr/>
        </p:nvSpPr>
        <p:spPr>
          <a:xfrm>
            <a:off x="711200" y="3276600"/>
            <a:ext cx="38100" cy="2413000"/>
          </a:xfrm>
          <a:prstGeom prst="rect">
            <a:avLst/>
          </a:prstGeom>
          <a:solidFill>
            <a:srgbClr val="B5533C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left-support-label">
            <a:extLst>
              <a:ext uri="{FF2B5EF4-FFF2-40B4-BE49-F238E27FC236}">
                <a16:creationId xmlns:a16="http://schemas.microsoft.com/office/drawing/2014/main" id="{D6DE96A4-C2FE-B648-ABE4-467A33BA22A2}"/>
              </a:ext>
            </a:extLst>
          </p:cNvPr>
          <p:cNvSpPr txBox="1"/>
          <p:nvPr/>
        </p:nvSpPr>
        <p:spPr>
          <a:xfrm>
            <a:off x="1016000" y="35560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050" b="1">
                <a:solidFill>
                  <a:srgbClr val="B5533C"/>
                </a:solidFill>
                <a:latin typeface="Arial"/>
                <a:cs typeface="Arial"/>
              </a:rPr>
              <a:t>待明确事项</a:t>
            </a:r>
            <a:endParaRPr lang="en-US" sz="1050" b="1">
              <a:solidFill>
                <a:srgbClr val="B5533C"/>
              </a:solidFill>
              <a:latin typeface="Arial"/>
              <a:cs typeface="Arial"/>
            </a:endParaRPr>
          </a:p>
        </p:txBody>
      </p:sp>
      <p:sp>
        <p:nvSpPr>
          <p:cNvPr id="19" name="left-support-body">
            <a:extLst>
              <a:ext uri="{FF2B5EF4-FFF2-40B4-BE49-F238E27FC236}">
                <a16:creationId xmlns:a16="http://schemas.microsoft.com/office/drawing/2014/main" id="{54356782-D297-0C4D-9064-EBC2F037E3FB}"/>
              </a:ext>
            </a:extLst>
          </p:cNvPr>
          <p:cNvSpPr txBox="1"/>
          <p:nvPr/>
        </p:nvSpPr>
        <p:spPr>
          <a:xfrm>
            <a:off x="1016000" y="3937000"/>
            <a:ext cx="5994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500">
                <a:solidFill>
                  <a:srgbClr val="3E3833"/>
                </a:solidFill>
                <a:latin typeface="Arial"/>
                <a:cs typeface="Arial"/>
              </a:rPr>
              <a:t>捐赠与贡献是否需同时满足，还是满足其一即可？资格的有效期与撤销规则，需要在制度层面明确后再对外说明。</a:t>
            </a:r>
            <a:endParaRPr lang="en-US" sz="1500">
              <a:solidFill>
                <a:srgbClr val="3E3833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6756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3-kicker">
            <a:extLst>
              <a:ext uri="{FF2B5EF4-FFF2-40B4-BE49-F238E27FC236}">
                <a16:creationId xmlns:a16="http://schemas.microsoft.com/office/drawing/2014/main" id="{B838FCB5-65C8-431A-98C4-9A6F32AA0A1A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000" lnSpcReduction="10000"/>
          </a:bodyPr>
          <a:lstStyle/>
          <a:p>
            <a:pPr algn="l"/>
            <a:r>
              <a:rPr sz="1000" b="1" spc="12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Nyquiste AI 全球全家桶</a:t>
            </a:r>
          </a:p>
        </p:txBody>
      </p:sp>
      <p:sp>
        <p:nvSpPr>
          <p:cNvPr id="2" name="slide-3-title">
            <a:extLst>
              <a:ext uri="{FF2B5EF4-FFF2-40B4-BE49-F238E27FC236}">
                <a16:creationId xmlns:a16="http://schemas.microsoft.com/office/drawing/2014/main" id="{88E3FD72-4C8A-44BF-96D6-D8A874EB92D4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组织以“捐赠 + 内容贡献”形成用户认可依据</a:t>
            </a:r>
          </a:p>
        </p:txBody>
      </p:sp>
      <p:sp>
        <p:nvSpPr>
          <p:cNvPr id="3" name="slide-3-number">
            <a:extLst>
              <a:ext uri="{FF2B5EF4-FFF2-40B4-BE49-F238E27FC236}">
                <a16:creationId xmlns:a16="http://schemas.microsoft.com/office/drawing/2014/main" id="{E5BE7E14-E8DB-4EA5-BA91-56EB7BDABDD8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 lnSpcReduction="20000"/>
          </a:bodyPr>
          <a:lstStyle/>
          <a:p>
            <a:pPr algn="r"/>
            <a:r>
              <a:rPr lang="en-US" sz="1000" b="1" spc="8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02</a:t>
            </a:r>
            <a:endParaRPr sz="1000" b="1" spc="80">
              <a:solidFill>
                <a:srgbClr val="635B54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4" name="recognition-user-donation-arrow">
            <a:extLst>
              <a:ext uri="{FF2B5EF4-FFF2-40B4-BE49-F238E27FC236}">
                <a16:creationId xmlns:a16="http://schemas.microsoft.com/office/drawing/2014/main" id="{A7D2025E-78B4-48D0-A360-72888DA7DB73}"/>
              </a:ext>
            </a:extLst>
          </p:cNvPr>
          <p:cNvSpPr>
            <a:spLocks noGrp="1"/>
          </p:cNvSpPr>
          <p:nvPr/>
        </p:nvSpPr>
        <p:spPr>
          <a:xfrm>
            <a:off x="2381250" y="2505075"/>
            <a:ext cx="819150" cy="266700"/>
          </a:xfrm>
          <a:prstGeom prst="rightArrow">
            <a:avLst/>
          </a:prstGeom>
          <a:solidFill>
            <a:srgbClr val="A79C90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gnition-user-contribution-arrow">
            <a:extLst>
              <a:ext uri="{FF2B5EF4-FFF2-40B4-BE49-F238E27FC236}">
                <a16:creationId xmlns:a16="http://schemas.microsoft.com/office/drawing/2014/main" id="{D85AB9B3-2026-4573-BA09-1244E8800E23}"/>
              </a:ext>
            </a:extLst>
          </p:cNvPr>
          <p:cNvSpPr>
            <a:spLocks noGrp="1"/>
          </p:cNvSpPr>
          <p:nvPr/>
        </p:nvSpPr>
        <p:spPr>
          <a:xfrm>
            <a:off x="2381250" y="3971925"/>
            <a:ext cx="819150" cy="266700"/>
          </a:xfrm>
          <a:prstGeom prst="rightArrow">
            <a:avLst/>
          </a:prstGeom>
          <a:solidFill>
            <a:srgbClr val="A79C90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gnition-donation-org-arrow">
            <a:extLst>
              <a:ext uri="{FF2B5EF4-FFF2-40B4-BE49-F238E27FC236}">
                <a16:creationId xmlns:a16="http://schemas.microsoft.com/office/drawing/2014/main" id="{59985205-1DC8-4D54-8AE8-17D36775642F}"/>
              </a:ext>
            </a:extLst>
          </p:cNvPr>
          <p:cNvSpPr>
            <a:spLocks noGrp="1"/>
          </p:cNvSpPr>
          <p:nvPr/>
        </p:nvSpPr>
        <p:spPr>
          <a:xfrm>
            <a:off x="5667375" y="2505075"/>
            <a:ext cx="857250" cy="266700"/>
          </a:xfrm>
          <a:prstGeom prst="rightArrow">
            <a:avLst/>
          </a:prstGeom>
          <a:solidFill>
            <a:srgbClr val="A79C90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ognition-contribution-org-arrow">
            <a:extLst>
              <a:ext uri="{FF2B5EF4-FFF2-40B4-BE49-F238E27FC236}">
                <a16:creationId xmlns:a16="http://schemas.microsoft.com/office/drawing/2014/main" id="{BB4BA385-D223-4A1B-A1E0-83F9BCFCDAFA}"/>
              </a:ext>
            </a:extLst>
          </p:cNvPr>
          <p:cNvSpPr>
            <a:spLocks noGrp="1"/>
          </p:cNvSpPr>
          <p:nvPr/>
        </p:nvSpPr>
        <p:spPr>
          <a:xfrm>
            <a:off x="5667375" y="3971925"/>
            <a:ext cx="857250" cy="266700"/>
          </a:xfrm>
          <a:prstGeom prst="rightArrow">
            <a:avLst/>
          </a:prstGeom>
          <a:solidFill>
            <a:srgbClr val="A79C90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ognition-org-right-arrow">
            <a:extLst>
              <a:ext uri="{FF2B5EF4-FFF2-40B4-BE49-F238E27FC236}">
                <a16:creationId xmlns:a16="http://schemas.microsoft.com/office/drawing/2014/main" id="{1D168CE1-7281-490B-9D2C-5AACBF430191}"/>
              </a:ext>
            </a:extLst>
          </p:cNvPr>
          <p:cNvSpPr>
            <a:spLocks noGrp="1"/>
          </p:cNvSpPr>
          <p:nvPr/>
        </p:nvSpPr>
        <p:spPr>
          <a:xfrm>
            <a:off x="9220200" y="3209925"/>
            <a:ext cx="609600" cy="285750"/>
          </a:xfrm>
          <a:prstGeom prst="rightArrow">
            <a:avLst/>
          </a:prstGeom>
          <a:solidFill>
            <a:srgbClr val="A79C90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ognition-user">
            <a:extLst>
              <a:ext uri="{FF2B5EF4-FFF2-40B4-BE49-F238E27FC236}">
                <a16:creationId xmlns:a16="http://schemas.microsoft.com/office/drawing/2014/main" id="{C79B7565-0929-43A2-A070-7DE2D4E1D9A9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1666875" cy="1809750"/>
          </a:xfrm>
          <a:prstGeom prst="roundRect">
            <a:avLst>
              <a:gd name="adj" fmla="val 9143"/>
            </a:avLst>
          </a:prstGeom>
          <a:solidFill>
            <a:srgbClr val="EFE7DA"/>
          </a:solidFill>
          <a:ln w="12700">
            <a:solidFill>
              <a:srgbClr val="DED5C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ognition-user-title">
            <a:extLst>
              <a:ext uri="{FF2B5EF4-FFF2-40B4-BE49-F238E27FC236}">
                <a16:creationId xmlns:a16="http://schemas.microsoft.com/office/drawing/2014/main" id="{CA98604F-4182-453D-8565-F0CF9A721477}"/>
              </a:ext>
            </a:extLst>
          </p:cNvPr>
          <p:cNvSpPr>
            <a:spLocks noGrp="1"/>
          </p:cNvSpPr>
          <p:nvPr/>
        </p:nvSpPr>
        <p:spPr>
          <a:xfrm>
            <a:off x="904875" y="2781300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827"/>
          </a:bodyPr>
          <a:lstStyle/>
          <a:p>
            <a:pPr algn="ctr"/>
            <a:r>
              <a:rPr sz="16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用户</a:t>
            </a:r>
          </a:p>
        </p:txBody>
      </p:sp>
      <p:sp>
        <p:nvSpPr>
          <p:cNvPr id="11" name="recognition-user-body">
            <a:extLst>
              <a:ext uri="{FF2B5EF4-FFF2-40B4-BE49-F238E27FC236}">
                <a16:creationId xmlns:a16="http://schemas.microsoft.com/office/drawing/2014/main" id="{C753D6C4-3FC5-4D35-B953-4FF23FDB6F6D}"/>
              </a:ext>
            </a:extLst>
          </p:cNvPr>
          <p:cNvSpPr>
            <a:spLocks noGrp="1"/>
          </p:cNvSpPr>
          <p:nvPr/>
        </p:nvSpPr>
        <p:spPr>
          <a:xfrm>
            <a:off x="857250" y="3352800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097"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认同组织理念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参与组织生态</a:t>
            </a:r>
          </a:p>
        </p:txBody>
      </p:sp>
      <p:sp>
        <p:nvSpPr>
          <p:cNvPr id="12" name="recognition-donation">
            <a:extLst>
              <a:ext uri="{FF2B5EF4-FFF2-40B4-BE49-F238E27FC236}">
                <a16:creationId xmlns:a16="http://schemas.microsoft.com/office/drawing/2014/main" id="{C7B9DE72-1ABB-4BB3-871F-6B915673E9A4}"/>
              </a:ext>
            </a:extLst>
          </p:cNvPr>
          <p:cNvSpPr>
            <a:spLocks noGrp="1"/>
          </p:cNvSpPr>
          <p:nvPr/>
        </p:nvSpPr>
        <p:spPr>
          <a:xfrm>
            <a:off x="3286125" y="2076450"/>
            <a:ext cx="2286000" cy="1123950"/>
          </a:xfrm>
          <a:prstGeom prst="roundRect">
            <a:avLst>
              <a:gd name="adj" fmla="val 11864"/>
            </a:avLst>
          </a:prstGeom>
          <a:solidFill>
            <a:srgbClr val="F7F3ED"/>
          </a:solidFill>
          <a:ln w="12700">
            <a:solidFill>
              <a:srgbClr val="DED5C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ognition-donation-title">
            <a:extLst>
              <a:ext uri="{FF2B5EF4-FFF2-40B4-BE49-F238E27FC236}">
                <a16:creationId xmlns:a16="http://schemas.microsoft.com/office/drawing/2014/main" id="{D5024C24-84DF-4F0C-9160-CA251DB5832B}"/>
              </a:ext>
            </a:extLst>
          </p:cNvPr>
          <p:cNvSpPr>
            <a:spLocks noGrp="1"/>
          </p:cNvSpPr>
          <p:nvPr/>
        </p:nvSpPr>
        <p:spPr>
          <a:xfrm>
            <a:off x="3571875" y="2324100"/>
            <a:ext cx="95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667" lnSpcReduction="10000"/>
          </a:bodyPr>
          <a:lstStyle/>
          <a:p>
            <a:pPr algn="ctr"/>
            <a:r>
              <a:rPr sz="16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捐赠</a:t>
            </a:r>
          </a:p>
        </p:txBody>
      </p:sp>
      <p:sp>
        <p:nvSpPr>
          <p:cNvPr id="14" name="recognition-donation-body">
            <a:extLst>
              <a:ext uri="{FF2B5EF4-FFF2-40B4-BE49-F238E27FC236}">
                <a16:creationId xmlns:a16="http://schemas.microsoft.com/office/drawing/2014/main" id="{41502716-B766-4BE2-B0BE-64FB701E07D3}"/>
              </a:ext>
            </a:extLst>
          </p:cNvPr>
          <p:cNvSpPr>
            <a:spLocks noGrp="1"/>
          </p:cNvSpPr>
          <p:nvPr/>
        </p:nvSpPr>
        <p:spPr>
          <a:xfrm>
            <a:off x="3454400" y="2692400"/>
            <a:ext cx="1968500" cy="43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用户认同组织理念，并向组织捐赠的款项</a:t>
            </a:r>
          </a:p>
        </p:txBody>
      </p:sp>
      <p:sp>
        <p:nvSpPr>
          <p:cNvPr id="15" name="recognition-contribution">
            <a:extLst>
              <a:ext uri="{FF2B5EF4-FFF2-40B4-BE49-F238E27FC236}">
                <a16:creationId xmlns:a16="http://schemas.microsoft.com/office/drawing/2014/main" id="{0EEB6D5F-15CD-4659-9E87-162C703ABB80}"/>
              </a:ext>
            </a:extLst>
          </p:cNvPr>
          <p:cNvSpPr>
            <a:spLocks noGrp="1"/>
          </p:cNvSpPr>
          <p:nvPr/>
        </p:nvSpPr>
        <p:spPr>
          <a:xfrm>
            <a:off x="3286125" y="3543300"/>
            <a:ext cx="2286000" cy="1123950"/>
          </a:xfrm>
          <a:prstGeom prst="roundRect">
            <a:avLst>
              <a:gd name="adj" fmla="val 11864"/>
            </a:avLst>
          </a:prstGeom>
          <a:solidFill>
            <a:srgbClr val="F7F3ED"/>
          </a:solidFill>
          <a:ln w="12700">
            <a:solidFill>
              <a:srgbClr val="DED5C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ognition-contribution-title">
            <a:extLst>
              <a:ext uri="{FF2B5EF4-FFF2-40B4-BE49-F238E27FC236}">
                <a16:creationId xmlns:a16="http://schemas.microsoft.com/office/drawing/2014/main" id="{A1A09C46-B615-4517-B7D3-6EAFB180EE87}"/>
              </a:ext>
            </a:extLst>
          </p:cNvPr>
          <p:cNvSpPr>
            <a:spLocks noGrp="1"/>
          </p:cNvSpPr>
          <p:nvPr/>
        </p:nvSpPr>
        <p:spPr>
          <a:xfrm>
            <a:off x="3571875" y="3790950"/>
            <a:ext cx="95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667" lnSpcReduction="10000"/>
          </a:bodyPr>
          <a:lstStyle/>
          <a:p>
            <a:pPr algn="ctr"/>
            <a:r>
              <a:rPr sz="16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贡献</a:t>
            </a:r>
          </a:p>
        </p:txBody>
      </p:sp>
      <p:sp>
        <p:nvSpPr>
          <p:cNvPr id="17" name="recognition-contribution-body">
            <a:extLst>
              <a:ext uri="{FF2B5EF4-FFF2-40B4-BE49-F238E27FC236}">
                <a16:creationId xmlns:a16="http://schemas.microsoft.com/office/drawing/2014/main" id="{A6BE183B-2CA6-4F4C-9EC0-34AB1B125316}"/>
              </a:ext>
            </a:extLst>
          </p:cNvPr>
          <p:cNvSpPr>
            <a:spLocks noGrp="1"/>
          </p:cNvSpPr>
          <p:nvPr/>
        </p:nvSpPr>
        <p:spPr>
          <a:xfrm>
            <a:off x="3454400" y="4165600"/>
            <a:ext cx="1968500" cy="43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用户提交内容，并经由组织 Blog 发布的文章</a:t>
            </a:r>
          </a:p>
        </p:txBody>
      </p:sp>
      <p:sp>
        <p:nvSpPr>
          <p:cNvPr id="18" name="recognition-organization">
            <a:extLst>
              <a:ext uri="{FF2B5EF4-FFF2-40B4-BE49-F238E27FC236}">
                <a16:creationId xmlns:a16="http://schemas.microsoft.com/office/drawing/2014/main" id="{A8C1210A-37D2-4711-949A-7C40534AB919}"/>
              </a:ext>
            </a:extLst>
          </p:cNvPr>
          <p:cNvSpPr>
            <a:spLocks noGrp="1"/>
          </p:cNvSpPr>
          <p:nvPr/>
        </p:nvSpPr>
        <p:spPr>
          <a:xfrm>
            <a:off x="6619875" y="2476500"/>
            <a:ext cx="2476500" cy="1809750"/>
          </a:xfrm>
          <a:prstGeom prst="roundRect">
            <a:avLst>
              <a:gd name="adj" fmla="val 8421"/>
            </a:avLst>
          </a:prstGeom>
          <a:solidFill>
            <a:srgbClr val="EFE7DA"/>
          </a:solidFill>
          <a:ln w="12700">
            <a:solidFill>
              <a:srgbClr val="DED5C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ognition-organization-title">
            <a:extLst>
              <a:ext uri="{FF2B5EF4-FFF2-40B4-BE49-F238E27FC236}">
                <a16:creationId xmlns:a16="http://schemas.microsoft.com/office/drawing/2014/main" id="{305EA389-D434-4D51-A190-2117E82C71E6}"/>
              </a:ext>
            </a:extLst>
          </p:cNvPr>
          <p:cNvSpPr>
            <a:spLocks noGrp="1"/>
          </p:cNvSpPr>
          <p:nvPr/>
        </p:nvSpPr>
        <p:spPr>
          <a:xfrm>
            <a:off x="7143750" y="27813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827"/>
          </a:bodyPr>
          <a:lstStyle/>
          <a:p>
            <a:pPr algn="ctr"/>
            <a:r>
              <a:rPr sz="16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组织认可</a:t>
            </a:r>
          </a:p>
        </p:txBody>
      </p:sp>
      <p:sp>
        <p:nvSpPr>
          <p:cNvPr id="20" name="recognition-organization-body">
            <a:extLst>
              <a:ext uri="{FF2B5EF4-FFF2-40B4-BE49-F238E27FC236}">
                <a16:creationId xmlns:a16="http://schemas.microsoft.com/office/drawing/2014/main" id="{C64605D6-8DD4-4038-85B0-03E29DB06B49}"/>
              </a:ext>
            </a:extLst>
          </p:cNvPr>
          <p:cNvSpPr>
            <a:spLocks noGrp="1"/>
          </p:cNvSpPr>
          <p:nvPr/>
        </p:nvSpPr>
        <p:spPr>
          <a:xfrm>
            <a:off x="7286625" y="3352800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捐赠者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贡献者</a:t>
            </a:r>
          </a:p>
        </p:txBody>
      </p:sp>
      <p:sp>
        <p:nvSpPr>
          <p:cNvPr id="21" name="recognition-account-right">
            <a:extLst>
              <a:ext uri="{FF2B5EF4-FFF2-40B4-BE49-F238E27FC236}">
                <a16:creationId xmlns:a16="http://schemas.microsoft.com/office/drawing/2014/main" id="{F76C76EC-2699-4C8B-B409-64495563AE74}"/>
              </a:ext>
            </a:extLst>
          </p:cNvPr>
          <p:cNvSpPr>
            <a:spLocks noGrp="1"/>
          </p:cNvSpPr>
          <p:nvPr/>
        </p:nvSpPr>
        <p:spPr>
          <a:xfrm>
            <a:off x="9906000" y="2540000"/>
            <a:ext cx="1828800" cy="1676400"/>
          </a:xfrm>
          <a:prstGeom prst="roundRect">
            <a:avLst>
              <a:gd name="adj" fmla="val 11429"/>
            </a:avLst>
          </a:prstGeom>
          <a:solidFill>
            <a:srgbClr val="8E3D2B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ognition-account-right-title">
            <a:extLst>
              <a:ext uri="{FF2B5EF4-FFF2-40B4-BE49-F238E27FC236}">
                <a16:creationId xmlns:a16="http://schemas.microsoft.com/office/drawing/2014/main" id="{F13721D6-2966-41B5-BC55-9C698CDBDE01}"/>
              </a:ext>
            </a:extLst>
          </p:cNvPr>
          <p:cNvSpPr>
            <a:spLocks noGrp="1"/>
          </p:cNvSpPr>
          <p:nvPr/>
        </p:nvSpPr>
        <p:spPr>
          <a:xfrm>
            <a:off x="10033000" y="2870200"/>
            <a:ext cx="1574800" cy="35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40"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账号使用权</a:t>
            </a:r>
          </a:p>
        </p:txBody>
      </p:sp>
      <p:sp>
        <p:nvSpPr>
          <p:cNvPr id="23" name="recognition-account-right-body">
            <a:extLst>
              <a:ext uri="{FF2B5EF4-FFF2-40B4-BE49-F238E27FC236}">
                <a16:creationId xmlns:a16="http://schemas.microsoft.com/office/drawing/2014/main" id="{F920F9DC-6D8E-4164-B7B1-1A1BD07AAB2C}"/>
              </a:ext>
            </a:extLst>
          </p:cNvPr>
          <p:cNvSpPr>
            <a:spLocks noGrp="1"/>
          </p:cNvSpPr>
          <p:nvPr/>
        </p:nvSpPr>
        <p:spPr>
          <a:xfrm>
            <a:off x="10033000" y="3302000"/>
            <a:ext cx="1574800" cy="660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组织名下订阅账号</a:t>
            </a:r>
          </a:p>
        </p:txBody>
      </p:sp>
      <p:sp>
        <p:nvSpPr>
          <p:cNvPr id="24" name="recognition-open-question">
            <a:extLst>
              <a:ext uri="{FF2B5EF4-FFF2-40B4-BE49-F238E27FC236}">
                <a16:creationId xmlns:a16="http://schemas.microsoft.com/office/drawing/2014/main" id="{51743C28-3731-46A0-B4C7-F37FB0467A60}"/>
              </a:ext>
            </a:extLst>
          </p:cNvPr>
          <p:cNvSpPr>
            <a:spLocks noGrp="1"/>
          </p:cNvSpPr>
          <p:nvPr/>
        </p:nvSpPr>
        <p:spPr>
          <a:xfrm>
            <a:off x="584200" y="5143500"/>
            <a:ext cx="8509000" cy="609600"/>
          </a:xfrm>
          <a:prstGeom prst="roundRect">
            <a:avLst>
              <a:gd name="adj" fmla="val 18750"/>
            </a:avLst>
          </a:prstGeom>
          <a:solidFill>
            <a:srgbClr val="EFE7DA"/>
          </a:solidFill>
          <a:ln w="19050">
            <a:solidFill>
              <a:srgbClr val="C887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ognition-open-question-text">
            <a:extLst>
              <a:ext uri="{FF2B5EF4-FFF2-40B4-BE49-F238E27FC236}">
                <a16:creationId xmlns:a16="http://schemas.microsoft.com/office/drawing/2014/main" id="{D54679E9-1045-497F-B090-AAE21CCD7B81}"/>
              </a:ext>
            </a:extLst>
          </p:cNvPr>
          <p:cNvSpPr>
            <a:spLocks noGrp="1"/>
          </p:cNvSpPr>
          <p:nvPr/>
        </p:nvSpPr>
        <p:spPr>
          <a:xfrm>
            <a:off x="838200" y="5257800"/>
            <a:ext cx="800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待明确：捐赠与贡献需同时满足，还是满足其一即可？资格有效期与撤销规则是什么？</a:t>
            </a:r>
          </a:p>
        </p:txBody>
      </p:sp>
    </p:spTree>
    <p:extLst>
      <p:ext uri="{BB962C8B-B14F-4D97-AF65-F5344CB8AC3E}">
        <p14:creationId xmlns:p14="http://schemas.microsoft.com/office/powerpoint/2010/main" val="2823267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5-kicker">
            <a:extLst>
              <a:ext uri="{FF2B5EF4-FFF2-40B4-BE49-F238E27FC236}">
                <a16:creationId xmlns:a16="http://schemas.microsoft.com/office/drawing/2014/main" id="{277C43C6-0ACC-427E-9C3A-E46DF55CA30D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000" lnSpcReduction="10000"/>
          </a:bodyPr>
          <a:lstStyle/>
          <a:p>
            <a:pPr algn="l"/>
            <a:r>
              <a:rPr sz="1000" b="1" spc="120" dirty="0" err="1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微信内容发布秘书处</a:t>
            </a:r>
            <a:endParaRPr sz="1000" b="1" spc="120" dirty="0">
              <a:solidFill>
                <a:srgbClr val="B5533C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" name="slide-5-title">
            <a:extLst>
              <a:ext uri="{FF2B5EF4-FFF2-40B4-BE49-F238E27FC236}">
                <a16:creationId xmlns:a16="http://schemas.microsoft.com/office/drawing/2014/main" id="{33B70718-A770-4D37-B09E-755743249EC3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3000" b="1" dirty="0" err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秘书处的实际业务架构</a:t>
            </a:r>
            <a:endParaRPr sz="3000" b="1" dirty="0">
              <a:solidFill>
                <a:srgbClr val="2A262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3" name="slide-5-number">
            <a:extLst>
              <a:ext uri="{FF2B5EF4-FFF2-40B4-BE49-F238E27FC236}">
                <a16:creationId xmlns:a16="http://schemas.microsoft.com/office/drawing/2014/main" id="{45D9D002-24CD-4695-A04C-CEEA5FF7E504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 lnSpcReduction="20000"/>
          </a:bodyPr>
          <a:lstStyle/>
          <a:p>
            <a:pPr algn="r"/>
            <a:r>
              <a:rPr lang="en-US" sz="1000" b="1" spc="8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03</a:t>
            </a:r>
            <a:endParaRPr sz="1000" b="1" spc="80">
              <a:solidFill>
                <a:srgbClr val="635B54"/>
              </a:solidFill>
              <a:latin typeface="Arial"/>
              <a:ea typeface="Microsoft YaHei"/>
              <a:cs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37172" y="1381125"/>
            <a:ext cx="7917656" cy="4524375"/>
          </a:xfrm>
          <a:prstGeom prst="roundRect">
            <a:avLst>
              <a:gd name="adj" fmla="val 2526"/>
            </a:avLst>
          </a:prstGeom>
        </p:spPr>
      </p:pic>
      <p:sp>
        <p:nvSpPr>
          <p:cNvPr id="5" name="architecture-caption">
            <a:extLst>
              <a:ext uri="{FF2B5EF4-FFF2-40B4-BE49-F238E27FC236}">
                <a16:creationId xmlns:a16="http://schemas.microsoft.com/office/drawing/2014/main" id="{BE9C94F9-104F-4B16-B927-A61124341F5B}"/>
              </a:ext>
            </a:extLst>
          </p:cNvPr>
          <p:cNvSpPr>
            <a:spLocks noGrp="1"/>
          </p:cNvSpPr>
          <p:nvPr/>
        </p:nvSpPr>
        <p:spPr>
          <a:xfrm>
            <a:off x="762000" y="59626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333" lnSpcReduction="20000"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用户提交指令与 Source；秘书处员工转入文件传输助手；Agent 主动抓取、处理、留档，并在明确授权后发布。</a:t>
            </a:r>
          </a:p>
        </p:txBody>
      </p:sp>
    </p:spTree>
    <p:extLst>
      <p:ext uri="{BB962C8B-B14F-4D97-AF65-F5344CB8AC3E}">
        <p14:creationId xmlns:p14="http://schemas.microsoft.com/office/powerpoint/2010/main" val="567481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6-kicker">
            <a:extLst>
              <a:ext uri="{FF2B5EF4-FFF2-40B4-BE49-F238E27FC236}">
                <a16:creationId xmlns:a16="http://schemas.microsoft.com/office/drawing/2014/main" id="{3072B3C3-3B2A-4CD5-A5FE-25FDFEC6205C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000" lnSpcReduction="10000"/>
          </a:bodyPr>
          <a:lstStyle/>
          <a:p>
            <a:pPr algn="l"/>
            <a:r>
              <a:rPr sz="1000" b="1" spc="12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微信内容发布秘书处</a:t>
            </a:r>
          </a:p>
        </p:txBody>
      </p:sp>
      <p:sp>
        <p:nvSpPr>
          <p:cNvPr id="2" name="slide-6-title">
            <a:extLst>
              <a:ext uri="{FF2B5EF4-FFF2-40B4-BE49-F238E27FC236}">
                <a16:creationId xmlns:a16="http://schemas.microsoft.com/office/drawing/2014/main" id="{ACF95219-AE29-44EE-BF4F-3E21D3B58EE3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一条真实投稿如何进入秘书处</a:t>
            </a:r>
          </a:p>
        </p:txBody>
      </p:sp>
      <p:sp>
        <p:nvSpPr>
          <p:cNvPr id="3" name="slide-6-number">
            <a:extLst>
              <a:ext uri="{FF2B5EF4-FFF2-40B4-BE49-F238E27FC236}">
                <a16:creationId xmlns:a16="http://schemas.microsoft.com/office/drawing/2014/main" id="{2BE2FC94-2EB5-4C88-A827-26813E29DB5D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 lnSpcReduction="20000"/>
          </a:bodyPr>
          <a:lstStyle/>
          <a:p>
            <a:pPr algn="r"/>
            <a:r>
              <a:rPr lang="en-US" sz="1000" b="1" spc="8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04</a:t>
            </a:r>
            <a:endParaRPr sz="1000" b="1" spc="80">
              <a:solidFill>
                <a:srgbClr val="635B54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4" name="intake-arrow-1">
            <a:extLst>
              <a:ext uri="{FF2B5EF4-FFF2-40B4-BE49-F238E27FC236}">
                <a16:creationId xmlns:a16="http://schemas.microsoft.com/office/drawing/2014/main" id="{42AC0084-EDB4-49DC-B047-F4AC87280FB2}"/>
              </a:ext>
            </a:extLst>
          </p:cNvPr>
          <p:cNvSpPr>
            <a:spLocks noGrp="1"/>
          </p:cNvSpPr>
          <p:nvPr/>
        </p:nvSpPr>
        <p:spPr>
          <a:xfrm>
            <a:off x="3429000" y="3314700"/>
            <a:ext cx="552450" cy="266700"/>
          </a:xfrm>
          <a:prstGeom prst="rightArrow">
            <a:avLst/>
          </a:prstGeom>
          <a:solidFill>
            <a:srgbClr val="A79C90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intake-arrow-2">
            <a:extLst>
              <a:ext uri="{FF2B5EF4-FFF2-40B4-BE49-F238E27FC236}">
                <a16:creationId xmlns:a16="http://schemas.microsoft.com/office/drawing/2014/main" id="{85E76266-0652-4671-A1DA-AB11CD4F4C5E}"/>
              </a:ext>
            </a:extLst>
          </p:cNvPr>
          <p:cNvSpPr>
            <a:spLocks noGrp="1"/>
          </p:cNvSpPr>
          <p:nvPr/>
        </p:nvSpPr>
        <p:spPr>
          <a:xfrm>
            <a:off x="7696200" y="3314700"/>
            <a:ext cx="552450" cy="266700"/>
          </a:xfrm>
          <a:prstGeom prst="rightArrow">
            <a:avLst/>
          </a:prstGeom>
          <a:solidFill>
            <a:srgbClr val="A79C90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intake-card-1">
            <a:extLst>
              <a:ext uri="{FF2B5EF4-FFF2-40B4-BE49-F238E27FC236}">
                <a16:creationId xmlns:a16="http://schemas.microsoft.com/office/drawing/2014/main" id="{625E74D5-4E67-4527-9D19-DF96197402BF}"/>
              </a:ext>
            </a:extLst>
          </p:cNvPr>
          <p:cNvSpPr>
            <a:spLocks noGrp="1"/>
          </p:cNvSpPr>
          <p:nvPr/>
        </p:nvSpPr>
        <p:spPr>
          <a:xfrm>
            <a:off x="400050" y="1905000"/>
            <a:ext cx="3028950" cy="3143250"/>
          </a:xfrm>
          <a:prstGeom prst="roundRect">
            <a:avLst>
              <a:gd name="adj" fmla="val 5031"/>
            </a:avLst>
          </a:prstGeom>
          <a:solidFill>
            <a:srgbClr val="F7F3ED"/>
          </a:solidFill>
          <a:ln w="12700">
            <a:solidFill>
              <a:srgbClr val="DED5C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intake-card-title-1">
            <a:extLst>
              <a:ext uri="{FF2B5EF4-FFF2-40B4-BE49-F238E27FC236}">
                <a16:creationId xmlns:a16="http://schemas.microsoft.com/office/drawing/2014/main" id="{8B0283D9-0AFF-4108-AA97-DFD9044A7103}"/>
              </a:ext>
            </a:extLst>
          </p:cNvPr>
          <p:cNvSpPr>
            <a:spLocks noGrp="1"/>
          </p:cNvSpPr>
          <p:nvPr/>
        </p:nvSpPr>
        <p:spPr>
          <a:xfrm>
            <a:off x="647700" y="2152650"/>
            <a:ext cx="2533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667"/>
          </a:bodyPr>
          <a:lstStyle/>
          <a:p>
            <a:pPr algn="l"/>
            <a:r>
              <a:rPr sz="16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用户提交</a:t>
            </a:r>
          </a:p>
        </p:txBody>
      </p:sp>
      <p:sp>
        <p:nvSpPr>
          <p:cNvPr id="8" name="intake-card-2">
            <a:extLst>
              <a:ext uri="{FF2B5EF4-FFF2-40B4-BE49-F238E27FC236}">
                <a16:creationId xmlns:a16="http://schemas.microsoft.com/office/drawing/2014/main" id="{DD1A4F22-E68E-4487-B3B0-AA8E7933613F}"/>
              </a:ext>
            </a:extLst>
          </p:cNvPr>
          <p:cNvSpPr>
            <a:spLocks noGrp="1"/>
          </p:cNvSpPr>
          <p:nvPr/>
        </p:nvSpPr>
        <p:spPr>
          <a:xfrm>
            <a:off x="4095750" y="1905000"/>
            <a:ext cx="3600450" cy="3143250"/>
          </a:xfrm>
          <a:prstGeom prst="roundRect">
            <a:avLst>
              <a:gd name="adj" fmla="val 4848"/>
            </a:avLst>
          </a:prstGeom>
          <a:solidFill>
            <a:srgbClr val="F7F3ED"/>
          </a:solidFill>
          <a:ln w="12700">
            <a:solidFill>
              <a:srgbClr val="DED5C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intake-card-title-2">
            <a:extLst>
              <a:ext uri="{FF2B5EF4-FFF2-40B4-BE49-F238E27FC236}">
                <a16:creationId xmlns:a16="http://schemas.microsoft.com/office/drawing/2014/main" id="{3298EAD1-1170-43C9-8219-E2661514CDE2}"/>
              </a:ext>
            </a:extLst>
          </p:cNvPr>
          <p:cNvSpPr>
            <a:spLocks noGrp="1"/>
          </p:cNvSpPr>
          <p:nvPr/>
        </p:nvSpPr>
        <p:spPr>
          <a:xfrm>
            <a:off x="4343400" y="2152650"/>
            <a:ext cx="3105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667"/>
          </a:bodyPr>
          <a:lstStyle/>
          <a:p>
            <a:pPr algn="l"/>
            <a:r>
              <a:rPr sz="16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内部员工格式化</a:t>
            </a:r>
          </a:p>
        </p:txBody>
      </p:sp>
      <p:sp>
        <p:nvSpPr>
          <p:cNvPr id="10" name="intake-card-3">
            <a:extLst>
              <a:ext uri="{FF2B5EF4-FFF2-40B4-BE49-F238E27FC236}">
                <a16:creationId xmlns:a16="http://schemas.microsoft.com/office/drawing/2014/main" id="{CDD169AB-4BD7-4595-835F-02CB8785FF7F}"/>
              </a:ext>
            </a:extLst>
          </p:cNvPr>
          <p:cNvSpPr>
            <a:spLocks noGrp="1"/>
          </p:cNvSpPr>
          <p:nvPr/>
        </p:nvSpPr>
        <p:spPr>
          <a:xfrm>
            <a:off x="8362950" y="1905000"/>
            <a:ext cx="3429000" cy="3143250"/>
          </a:xfrm>
          <a:prstGeom prst="roundRect">
            <a:avLst>
              <a:gd name="adj" fmla="val 4848"/>
            </a:avLst>
          </a:prstGeom>
          <a:solidFill>
            <a:srgbClr val="F7F3ED"/>
          </a:solidFill>
          <a:ln w="12700">
            <a:solidFill>
              <a:srgbClr val="DED5C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intake-card-title-3">
            <a:extLst>
              <a:ext uri="{FF2B5EF4-FFF2-40B4-BE49-F238E27FC236}">
                <a16:creationId xmlns:a16="http://schemas.microsoft.com/office/drawing/2014/main" id="{12DCA542-8E76-44E0-BE52-0B12DA00988E}"/>
              </a:ext>
            </a:extLst>
          </p:cNvPr>
          <p:cNvSpPr>
            <a:spLocks noGrp="1"/>
          </p:cNvSpPr>
          <p:nvPr/>
        </p:nvSpPr>
        <p:spPr>
          <a:xfrm>
            <a:off x="8610600" y="2152650"/>
            <a:ext cx="2933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667"/>
          </a:bodyPr>
          <a:lstStyle/>
          <a:p>
            <a:pPr algn="l"/>
            <a:r>
              <a:rPr sz="16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Agent 主动抓取</a:t>
            </a:r>
          </a:p>
        </p:txBody>
      </p:sp>
      <p:sp>
        <p:nvSpPr>
          <p:cNvPr id="12" name="intake-user-body">
            <a:extLst>
              <a:ext uri="{FF2B5EF4-FFF2-40B4-BE49-F238E27FC236}">
                <a16:creationId xmlns:a16="http://schemas.microsoft.com/office/drawing/2014/main" id="{34487A0E-B84E-46E2-9BFF-A5FB0F551691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2457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发文指令</a:t>
            </a:r>
          </a:p>
          <a:p>
            <a:pPr algn="l">
              <a:lnSpc>
                <a:spcPct val="145000"/>
              </a:lnSpc>
            </a:pPr>
            <a:endParaRPr sz="1300" b="0">
              <a:solidFill>
                <a:srgbClr val="635B54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Source：公众号文章卡片</a:t>
            </a:r>
          </a:p>
          <a:p>
            <a:pPr algn="l">
              <a:lnSpc>
                <a:spcPct val="145000"/>
              </a:lnSpc>
            </a:pPr>
            <a:endParaRPr sz="1300" b="0">
              <a:solidFill>
                <a:srgbClr val="635B54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必要时补充作者与处理要求</a:t>
            </a:r>
          </a:p>
        </p:txBody>
      </p:sp>
      <p:sp>
        <p:nvSpPr>
          <p:cNvPr id="13" name="intake-sample">
            <a:extLst>
              <a:ext uri="{FF2B5EF4-FFF2-40B4-BE49-F238E27FC236}">
                <a16:creationId xmlns:a16="http://schemas.microsoft.com/office/drawing/2014/main" id="{091156A2-B58A-433C-BD78-A3508641CAA0}"/>
              </a:ext>
            </a:extLst>
          </p:cNvPr>
          <p:cNvSpPr>
            <a:spLocks noGrp="1"/>
          </p:cNvSpPr>
          <p:nvPr/>
        </p:nvSpPr>
        <p:spPr>
          <a:xfrm>
            <a:off x="4400550" y="2781300"/>
            <a:ext cx="2990850" cy="1619250"/>
          </a:xfrm>
          <a:prstGeom prst="roundRect">
            <a:avLst>
              <a:gd name="adj" fmla="val 5882"/>
            </a:avLst>
          </a:prstGeom>
          <a:solidFill>
            <a:srgbClr val="2A2622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intake-sample-text">
            <a:extLst>
              <a:ext uri="{FF2B5EF4-FFF2-40B4-BE49-F238E27FC236}">
                <a16:creationId xmlns:a16="http://schemas.microsoft.com/office/drawing/2014/main" id="{5E92A2FA-34D6-4D1F-988E-8000C265208D}"/>
              </a:ext>
            </a:extLst>
          </p:cNvPr>
          <p:cNvSpPr>
            <a:spLocks noGrp="1"/>
          </p:cNvSpPr>
          <p:nvPr/>
        </p:nvSpPr>
        <p:spPr>
          <a:xfrm>
            <a:off x="4591050" y="2933700"/>
            <a:ext cx="26098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619" lnSpcReduction="10000"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8DFD2"/>
                </a:solidFill>
                <a:latin typeface="Arial"/>
                <a:ea typeface="Microsoft YaHei"/>
                <a:cs typeface="Arial"/>
              </a:rPr>
              <a:t>#投稿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E8DFD2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E8DFD2"/>
                </a:solidFill>
                <a:latin typeface="Arial"/>
                <a:ea typeface="Microsoft YaHei"/>
                <a:cs typeface="Arial"/>
              </a:rPr>
              <a:t>author.name: birdy-yao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E8DFD2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E8DFD2"/>
                </a:solidFill>
                <a:latin typeface="Arial"/>
                <a:ea typeface="Microsoft YaHei"/>
                <a:cs typeface="Arial"/>
              </a:rPr>
              <a:t>洗稿指令：加强爱国主义精神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E8DFD2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E8DFD2"/>
                </a:solidFill>
                <a:latin typeface="Arial"/>
                <a:ea typeface="Microsoft YaHei"/>
                <a:cs typeface="Arial"/>
              </a:rPr>
              <a:t>[公众号文章卡片]</a:t>
            </a:r>
          </a:p>
        </p:txBody>
      </p:sp>
      <p:sp>
        <p:nvSpPr>
          <p:cNvPr id="15" name="intake-agent-body">
            <a:extLst>
              <a:ext uri="{FF2B5EF4-FFF2-40B4-BE49-F238E27FC236}">
                <a16:creationId xmlns:a16="http://schemas.microsoft.com/office/drawing/2014/main" id="{DE132969-220C-40A9-BA31-3EAF6E3619FF}"/>
              </a:ext>
            </a:extLst>
          </p:cNvPr>
          <p:cNvSpPr>
            <a:spLocks noGrp="1"/>
          </p:cNvSpPr>
          <p:nvPr/>
        </p:nvSpPr>
        <p:spPr>
          <a:xfrm>
            <a:off x="8686800" y="2876550"/>
            <a:ext cx="27813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从文件传输助手识别任务</a:t>
            </a:r>
          </a:p>
          <a:p>
            <a:pPr algn="l">
              <a:lnSpc>
                <a:spcPct val="145000"/>
              </a:lnSpc>
            </a:pPr>
            <a:endParaRPr sz="1300" b="0">
              <a:solidFill>
                <a:srgbClr val="635B54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读取指令与 Source</a:t>
            </a:r>
          </a:p>
          <a:p>
            <a:pPr algn="l">
              <a:lnSpc>
                <a:spcPct val="145000"/>
              </a:lnSpc>
            </a:pPr>
            <a:endParaRPr sz="1300" b="0">
              <a:solidFill>
                <a:srgbClr val="635B54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创建可追踪的任务记录</a:t>
            </a:r>
          </a:p>
        </p:txBody>
      </p:sp>
      <p:sp>
        <p:nvSpPr>
          <p:cNvPr id="16" name="intake-case-caption">
            <a:extLst>
              <a:ext uri="{FF2B5EF4-FFF2-40B4-BE49-F238E27FC236}">
                <a16:creationId xmlns:a16="http://schemas.microsoft.com/office/drawing/2014/main" id="{E3D6D67C-1851-42AB-A2A0-CFBD78E9140E}"/>
              </a:ext>
            </a:extLst>
          </p:cNvPr>
          <p:cNvSpPr>
            <a:spLocks noGrp="1"/>
          </p:cNvSpPr>
          <p:nvPr/>
        </p:nvSpPr>
        <p:spPr>
          <a:xfrm>
            <a:off x="400050" y="5467350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真实验证文章：独家｜Kimi K3 震荡美股，有望最快 6 个月内港股上市</a:t>
            </a:r>
          </a:p>
        </p:txBody>
      </p:sp>
    </p:spTree>
    <p:extLst>
      <p:ext uri="{BB962C8B-B14F-4D97-AF65-F5344CB8AC3E}">
        <p14:creationId xmlns:p14="http://schemas.microsoft.com/office/powerpoint/2010/main" val="3965502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7-kicker">
            <a:extLst>
              <a:ext uri="{FF2B5EF4-FFF2-40B4-BE49-F238E27FC236}">
                <a16:creationId xmlns:a16="http://schemas.microsoft.com/office/drawing/2014/main" id="{58D5EF44-BC1D-41B3-B70B-4783B77952D7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000" lnSpcReduction="10000"/>
          </a:bodyPr>
          <a:lstStyle/>
          <a:p>
            <a:pPr algn="l"/>
            <a:r>
              <a:rPr sz="1000" b="1" spc="12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微信内容发布秘书处</a:t>
            </a:r>
          </a:p>
        </p:txBody>
      </p:sp>
      <p:sp>
        <p:nvSpPr>
          <p:cNvPr id="2" name="slide-7-title">
            <a:extLst>
              <a:ext uri="{FF2B5EF4-FFF2-40B4-BE49-F238E27FC236}">
                <a16:creationId xmlns:a16="http://schemas.microsoft.com/office/drawing/2014/main" id="{52C80562-E325-40A4-93B4-7467DF11F13A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Agent 在项目里真正执行的五项业务动作</a:t>
            </a:r>
          </a:p>
        </p:txBody>
      </p:sp>
      <p:sp>
        <p:nvSpPr>
          <p:cNvPr id="3" name="slide-7-number">
            <a:extLst>
              <a:ext uri="{FF2B5EF4-FFF2-40B4-BE49-F238E27FC236}">
                <a16:creationId xmlns:a16="http://schemas.microsoft.com/office/drawing/2014/main" id="{42703205-B793-4A8D-BFB1-04A2AD10DC0C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 lnSpcReduction="20000"/>
          </a:bodyPr>
          <a:lstStyle/>
          <a:p>
            <a:pPr algn="r"/>
            <a:r>
              <a:rPr lang="en-US" sz="1000" b="1" spc="8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05</a:t>
            </a:r>
            <a:endParaRPr sz="1000" b="1" spc="80">
              <a:solidFill>
                <a:srgbClr val="635B54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4" name="agent-flow-line">
            <a:extLst>
              <a:ext uri="{FF2B5EF4-FFF2-40B4-BE49-F238E27FC236}">
                <a16:creationId xmlns:a16="http://schemas.microsoft.com/office/drawing/2014/main" id="{D8365880-8EEC-4A07-92F6-1B3F583727F8}"/>
              </a:ext>
            </a:extLst>
          </p:cNvPr>
          <p:cNvSpPr>
            <a:spLocks noGrp="1"/>
          </p:cNvSpPr>
          <p:nvPr/>
        </p:nvSpPr>
        <p:spPr>
          <a:xfrm>
            <a:off x="835025" y="3162300"/>
            <a:ext cx="9220200" cy="0"/>
          </a:xfrm>
          <a:prstGeom prst="line">
            <a:avLst/>
          </a:prstGeom>
          <a:noFill/>
          <a:ln w="15875">
            <a:solidFill>
              <a:srgbClr val="DED5C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agent-step-dot-1">
            <a:extLst>
              <a:ext uri="{FF2B5EF4-FFF2-40B4-BE49-F238E27FC236}">
                <a16:creationId xmlns:a16="http://schemas.microsoft.com/office/drawing/2014/main" id="{12C9C137-EC1A-4149-9E67-8587276A640B}"/>
              </a:ext>
            </a:extLst>
          </p:cNvPr>
          <p:cNvSpPr>
            <a:spLocks noGrp="1"/>
          </p:cNvSpPr>
          <p:nvPr/>
        </p:nvSpPr>
        <p:spPr>
          <a:xfrm>
            <a:off x="619125" y="2946400"/>
            <a:ext cx="431800" cy="431800"/>
          </a:xfrm>
          <a:prstGeom prst="roundRect">
            <a:avLst>
              <a:gd name="adj" fmla="val 50000"/>
            </a:avLst>
          </a:prstGeom>
          <a:solidFill>
            <a:srgbClr val="8E3D2B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agent-step-index-1">
            <a:extLst>
              <a:ext uri="{FF2B5EF4-FFF2-40B4-BE49-F238E27FC236}">
                <a16:creationId xmlns:a16="http://schemas.microsoft.com/office/drawing/2014/main" id="{CE0DE10A-2C1B-47DD-8BBB-3A9DBDE461BA}"/>
              </a:ext>
            </a:extLst>
          </p:cNvPr>
          <p:cNvSpPr>
            <a:spLocks noGrp="1"/>
          </p:cNvSpPr>
          <p:nvPr/>
        </p:nvSpPr>
        <p:spPr>
          <a:xfrm>
            <a:off x="619125" y="2946400"/>
            <a:ext cx="431800" cy="43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anchorCtr="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7" name="agent-step-title-1">
            <a:extLst>
              <a:ext uri="{FF2B5EF4-FFF2-40B4-BE49-F238E27FC236}">
                <a16:creationId xmlns:a16="http://schemas.microsoft.com/office/drawing/2014/main" id="{48113F8E-3ECA-4607-A791-C1A2016DDC73}"/>
              </a:ext>
            </a:extLst>
          </p:cNvPr>
          <p:cNvSpPr>
            <a:spLocks noGrp="1"/>
          </p:cNvSpPr>
          <p:nvPr/>
        </p:nvSpPr>
        <p:spPr>
          <a:xfrm>
            <a:off x="619125" y="37084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/>
            <a:r>
              <a:rPr sz="16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识别任务</a:t>
            </a:r>
          </a:p>
        </p:txBody>
      </p:sp>
      <p:sp>
        <p:nvSpPr>
          <p:cNvPr id="8" name="agent-step-body-1">
            <a:extLst>
              <a:ext uri="{FF2B5EF4-FFF2-40B4-BE49-F238E27FC236}">
                <a16:creationId xmlns:a16="http://schemas.microsoft.com/office/drawing/2014/main" id="{4E8E2210-B23A-4C5A-B815-1F6BE0186D0B}"/>
              </a:ext>
            </a:extLst>
          </p:cNvPr>
          <p:cNvSpPr>
            <a:spLocks noGrp="1"/>
          </p:cNvSpPr>
          <p:nvPr/>
        </p:nvSpPr>
        <p:spPr>
          <a:xfrm>
            <a:off x="619125" y="4191000"/>
            <a:ext cx="1809750" cy="177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解析投稿指令、作者与 Source</a:t>
            </a:r>
          </a:p>
        </p:txBody>
      </p:sp>
      <p:sp>
        <p:nvSpPr>
          <p:cNvPr id="9" name="agent-step-dot-2">
            <a:extLst>
              <a:ext uri="{FF2B5EF4-FFF2-40B4-BE49-F238E27FC236}">
                <a16:creationId xmlns:a16="http://schemas.microsoft.com/office/drawing/2014/main" id="{9E4FCE87-CD02-4103-8819-581A7107839C}"/>
              </a:ext>
            </a:extLst>
          </p:cNvPr>
          <p:cNvSpPr>
            <a:spLocks noGrp="1"/>
          </p:cNvSpPr>
          <p:nvPr/>
        </p:nvSpPr>
        <p:spPr>
          <a:xfrm>
            <a:off x="2924175" y="2946400"/>
            <a:ext cx="431800" cy="431800"/>
          </a:xfrm>
          <a:prstGeom prst="roundRect">
            <a:avLst>
              <a:gd name="adj" fmla="val 50000"/>
            </a:avLst>
          </a:prstGeom>
          <a:solidFill>
            <a:srgbClr val="8E3D2B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agent-step-index-2">
            <a:extLst>
              <a:ext uri="{FF2B5EF4-FFF2-40B4-BE49-F238E27FC236}">
                <a16:creationId xmlns:a16="http://schemas.microsoft.com/office/drawing/2014/main" id="{8C217A7F-B2FA-4B5D-BBF5-1AAF8F5A3C07}"/>
              </a:ext>
            </a:extLst>
          </p:cNvPr>
          <p:cNvSpPr>
            <a:spLocks noGrp="1"/>
          </p:cNvSpPr>
          <p:nvPr/>
        </p:nvSpPr>
        <p:spPr>
          <a:xfrm>
            <a:off x="2924175" y="2946400"/>
            <a:ext cx="431800" cy="43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anchorCtr="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1" name="agent-step-title-2">
            <a:extLst>
              <a:ext uri="{FF2B5EF4-FFF2-40B4-BE49-F238E27FC236}">
                <a16:creationId xmlns:a16="http://schemas.microsoft.com/office/drawing/2014/main" id="{8ACB41AC-1855-43FE-8B97-C7716FEAADA7}"/>
              </a:ext>
            </a:extLst>
          </p:cNvPr>
          <p:cNvSpPr>
            <a:spLocks noGrp="1"/>
          </p:cNvSpPr>
          <p:nvPr/>
        </p:nvSpPr>
        <p:spPr>
          <a:xfrm>
            <a:off x="2924175" y="37084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/>
            <a:r>
              <a:rPr sz="16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抓取内容</a:t>
            </a:r>
          </a:p>
        </p:txBody>
      </p:sp>
      <p:sp>
        <p:nvSpPr>
          <p:cNvPr id="12" name="agent-step-body-2">
            <a:extLst>
              <a:ext uri="{FF2B5EF4-FFF2-40B4-BE49-F238E27FC236}">
                <a16:creationId xmlns:a16="http://schemas.microsoft.com/office/drawing/2014/main" id="{DAA3B4C9-2D9E-4D46-BCA2-3E6DE7300733}"/>
              </a:ext>
            </a:extLst>
          </p:cNvPr>
          <p:cNvSpPr>
            <a:spLocks noGrp="1"/>
          </p:cNvSpPr>
          <p:nvPr/>
        </p:nvSpPr>
        <p:spPr>
          <a:xfrm>
            <a:off x="2924175" y="4191000"/>
            <a:ext cx="1809750" cy="177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取得正文、图片与来源信息</a:t>
            </a:r>
          </a:p>
        </p:txBody>
      </p:sp>
      <p:sp>
        <p:nvSpPr>
          <p:cNvPr id="13" name="agent-step-dot-3">
            <a:extLst>
              <a:ext uri="{FF2B5EF4-FFF2-40B4-BE49-F238E27FC236}">
                <a16:creationId xmlns:a16="http://schemas.microsoft.com/office/drawing/2014/main" id="{18FE1B0F-7E00-4833-A40E-7017D175FC9A}"/>
              </a:ext>
            </a:extLst>
          </p:cNvPr>
          <p:cNvSpPr>
            <a:spLocks noGrp="1"/>
          </p:cNvSpPr>
          <p:nvPr/>
        </p:nvSpPr>
        <p:spPr>
          <a:xfrm>
            <a:off x="5229225" y="2946400"/>
            <a:ext cx="431800" cy="431800"/>
          </a:xfrm>
          <a:prstGeom prst="roundRect">
            <a:avLst>
              <a:gd name="adj" fmla="val 50000"/>
            </a:avLst>
          </a:prstGeom>
          <a:solidFill>
            <a:srgbClr val="8E3D2B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agent-step-index-3">
            <a:extLst>
              <a:ext uri="{FF2B5EF4-FFF2-40B4-BE49-F238E27FC236}">
                <a16:creationId xmlns:a16="http://schemas.microsoft.com/office/drawing/2014/main" id="{A88AFBFE-005E-4E19-BBCA-0D04407C3C78}"/>
              </a:ext>
            </a:extLst>
          </p:cNvPr>
          <p:cNvSpPr>
            <a:spLocks noGrp="1"/>
          </p:cNvSpPr>
          <p:nvPr/>
        </p:nvSpPr>
        <p:spPr>
          <a:xfrm>
            <a:off x="5229225" y="2946400"/>
            <a:ext cx="431800" cy="43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anchorCtr="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5" name="agent-step-title-3">
            <a:extLst>
              <a:ext uri="{FF2B5EF4-FFF2-40B4-BE49-F238E27FC236}">
                <a16:creationId xmlns:a16="http://schemas.microsoft.com/office/drawing/2014/main" id="{6A4D1B0B-B919-4BF4-B184-10C13CBC0896}"/>
              </a:ext>
            </a:extLst>
          </p:cNvPr>
          <p:cNvSpPr>
            <a:spLocks noGrp="1"/>
          </p:cNvSpPr>
          <p:nvPr/>
        </p:nvSpPr>
        <p:spPr>
          <a:xfrm>
            <a:off x="5229225" y="37084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/>
            <a:r>
              <a:rPr sz="16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洗稿</a:t>
            </a:r>
          </a:p>
        </p:txBody>
      </p:sp>
      <p:sp>
        <p:nvSpPr>
          <p:cNvPr id="16" name="agent-step-body-3">
            <a:extLst>
              <a:ext uri="{FF2B5EF4-FFF2-40B4-BE49-F238E27FC236}">
                <a16:creationId xmlns:a16="http://schemas.microsoft.com/office/drawing/2014/main" id="{25B0C55E-AFE8-4BCB-8A0F-7B3104E0E9C4}"/>
              </a:ext>
            </a:extLst>
          </p:cNvPr>
          <p:cNvSpPr>
            <a:spLocks noGrp="1"/>
          </p:cNvSpPr>
          <p:nvPr/>
        </p:nvSpPr>
        <p:spPr>
          <a:xfrm>
            <a:off x="5229225" y="4191000"/>
            <a:ext cx="1809750" cy="177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按指定要求或版本化规则生成文章</a:t>
            </a:r>
          </a:p>
        </p:txBody>
      </p:sp>
      <p:sp>
        <p:nvSpPr>
          <p:cNvPr id="17" name="agent-step-dot-4">
            <a:extLst>
              <a:ext uri="{FF2B5EF4-FFF2-40B4-BE49-F238E27FC236}">
                <a16:creationId xmlns:a16="http://schemas.microsoft.com/office/drawing/2014/main" id="{051BEA3C-7483-4472-BE85-0B371ADB7FF9}"/>
              </a:ext>
            </a:extLst>
          </p:cNvPr>
          <p:cNvSpPr>
            <a:spLocks noGrp="1"/>
          </p:cNvSpPr>
          <p:nvPr/>
        </p:nvSpPr>
        <p:spPr>
          <a:xfrm>
            <a:off x="7534275" y="2946400"/>
            <a:ext cx="431800" cy="431800"/>
          </a:xfrm>
          <a:prstGeom prst="roundRect">
            <a:avLst>
              <a:gd name="adj" fmla="val 50000"/>
            </a:avLst>
          </a:prstGeom>
          <a:solidFill>
            <a:srgbClr val="8E3D2B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agent-step-index-4">
            <a:extLst>
              <a:ext uri="{FF2B5EF4-FFF2-40B4-BE49-F238E27FC236}">
                <a16:creationId xmlns:a16="http://schemas.microsoft.com/office/drawing/2014/main" id="{88FF31A6-82E6-409E-9488-DCDAB072317B}"/>
              </a:ext>
            </a:extLst>
          </p:cNvPr>
          <p:cNvSpPr>
            <a:spLocks noGrp="1"/>
          </p:cNvSpPr>
          <p:nvPr/>
        </p:nvSpPr>
        <p:spPr>
          <a:xfrm>
            <a:off x="7534275" y="2946400"/>
            <a:ext cx="431800" cy="43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anchorCtr="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9" name="agent-step-title-4">
            <a:extLst>
              <a:ext uri="{FF2B5EF4-FFF2-40B4-BE49-F238E27FC236}">
                <a16:creationId xmlns:a16="http://schemas.microsoft.com/office/drawing/2014/main" id="{86DC7D6F-FDF5-4FBF-BFDE-883813F72C3D}"/>
              </a:ext>
            </a:extLst>
          </p:cNvPr>
          <p:cNvSpPr>
            <a:spLocks noGrp="1"/>
          </p:cNvSpPr>
          <p:nvPr/>
        </p:nvSpPr>
        <p:spPr>
          <a:xfrm>
            <a:off x="7534275" y="37084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/>
            <a:r>
              <a:rPr sz="16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构建任务库</a:t>
            </a:r>
          </a:p>
        </p:txBody>
      </p:sp>
      <p:sp>
        <p:nvSpPr>
          <p:cNvPr id="20" name="agent-step-body-4">
            <a:extLst>
              <a:ext uri="{FF2B5EF4-FFF2-40B4-BE49-F238E27FC236}">
                <a16:creationId xmlns:a16="http://schemas.microsoft.com/office/drawing/2014/main" id="{8E9D8E83-7816-4A2A-8E0A-6F947E8BE4BE}"/>
              </a:ext>
            </a:extLst>
          </p:cNvPr>
          <p:cNvSpPr>
            <a:spLocks noGrp="1"/>
          </p:cNvSpPr>
          <p:nvPr/>
        </p:nvSpPr>
        <p:spPr>
          <a:xfrm>
            <a:off x="7534275" y="4191000"/>
            <a:ext cx="1809750" cy="177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保存原始材料、产物、状态与审计记录</a:t>
            </a:r>
          </a:p>
        </p:txBody>
      </p:sp>
      <p:sp>
        <p:nvSpPr>
          <p:cNvPr id="21" name="agent-step-dot-5">
            <a:extLst>
              <a:ext uri="{FF2B5EF4-FFF2-40B4-BE49-F238E27FC236}">
                <a16:creationId xmlns:a16="http://schemas.microsoft.com/office/drawing/2014/main" id="{58C2C1A5-0100-4150-8203-338E531C3DBA}"/>
              </a:ext>
            </a:extLst>
          </p:cNvPr>
          <p:cNvSpPr>
            <a:spLocks noGrp="1"/>
          </p:cNvSpPr>
          <p:nvPr/>
        </p:nvSpPr>
        <p:spPr>
          <a:xfrm>
            <a:off x="9839325" y="2946400"/>
            <a:ext cx="431800" cy="431800"/>
          </a:xfrm>
          <a:prstGeom prst="roundRect">
            <a:avLst>
              <a:gd name="adj" fmla="val 50000"/>
            </a:avLst>
          </a:prstGeom>
          <a:solidFill>
            <a:srgbClr val="8E3D2B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agent-step-index-5">
            <a:extLst>
              <a:ext uri="{FF2B5EF4-FFF2-40B4-BE49-F238E27FC236}">
                <a16:creationId xmlns:a16="http://schemas.microsoft.com/office/drawing/2014/main" id="{0E1FC55D-34DA-47EF-8377-5EEC43D6A42A}"/>
              </a:ext>
            </a:extLst>
          </p:cNvPr>
          <p:cNvSpPr>
            <a:spLocks noGrp="1"/>
          </p:cNvSpPr>
          <p:nvPr/>
        </p:nvSpPr>
        <p:spPr>
          <a:xfrm>
            <a:off x="9839325" y="2946400"/>
            <a:ext cx="431800" cy="43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anchorCtr="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23" name="agent-step-title-5">
            <a:extLst>
              <a:ext uri="{FF2B5EF4-FFF2-40B4-BE49-F238E27FC236}">
                <a16:creationId xmlns:a16="http://schemas.microsoft.com/office/drawing/2014/main" id="{A70AAACF-74C4-4A93-9E12-8DCED4C70C57}"/>
              </a:ext>
            </a:extLst>
          </p:cNvPr>
          <p:cNvSpPr>
            <a:spLocks noGrp="1"/>
          </p:cNvSpPr>
          <p:nvPr/>
        </p:nvSpPr>
        <p:spPr>
          <a:xfrm>
            <a:off x="9839325" y="37084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/>
            <a:r>
              <a:rPr sz="16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发布</a:t>
            </a:r>
          </a:p>
        </p:txBody>
      </p:sp>
      <p:sp>
        <p:nvSpPr>
          <p:cNvPr id="24" name="agent-step-body-5">
            <a:extLst>
              <a:ext uri="{FF2B5EF4-FFF2-40B4-BE49-F238E27FC236}">
                <a16:creationId xmlns:a16="http://schemas.microsoft.com/office/drawing/2014/main" id="{33FE9919-6630-4C89-B96D-51939BA4A432}"/>
              </a:ext>
            </a:extLst>
          </p:cNvPr>
          <p:cNvSpPr>
            <a:spLocks noGrp="1"/>
          </p:cNvSpPr>
          <p:nvPr/>
        </p:nvSpPr>
        <p:spPr>
          <a:xfrm>
            <a:off x="9839325" y="4191000"/>
            <a:ext cx="1809750" cy="177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仅在明确授权后提交 Blog</a:t>
            </a:r>
          </a:p>
        </p:txBody>
      </p:sp>
      <p:sp>
        <p:nvSpPr>
          <p:cNvPr id="25" name="agent-flow-callout">
            <a:extLst>
              <a:ext uri="{FF2B5EF4-FFF2-40B4-BE49-F238E27FC236}">
                <a16:creationId xmlns:a16="http://schemas.microsoft.com/office/drawing/2014/main" id="{B1841F4B-1FA8-472E-B98E-7CEF3729A345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1023600" cy="584200"/>
          </a:xfrm>
          <a:prstGeom prst="rect">
            <a:avLst/>
          </a:prstGeom>
          <a:solidFill>
            <a:srgbClr val="EFE7DA"/>
          </a:solidFill>
          <a:ln w="19050">
            <a:solidFill>
              <a:srgbClr val="C8873F"/>
            </a:solidFill>
          </a:ln>
        </p:spPr>
        <p:txBody>
          <a:bodyPr anchor="t">
            <a:normAutofit/>
          </a:bodyPr>
          <a:lstStyle/>
          <a:p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内容处理与公开发布分离：洗稿完成，不等于必须发布。</a:t>
            </a:r>
          </a:p>
        </p:txBody>
      </p:sp>
    </p:spTree>
    <p:extLst>
      <p:ext uri="{BB962C8B-B14F-4D97-AF65-F5344CB8AC3E}">
        <p14:creationId xmlns:p14="http://schemas.microsoft.com/office/powerpoint/2010/main" val="4108322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8-kicker">
            <a:extLst>
              <a:ext uri="{FF2B5EF4-FFF2-40B4-BE49-F238E27FC236}">
                <a16:creationId xmlns:a16="http://schemas.microsoft.com/office/drawing/2014/main" id="{01FC30C4-A133-4333-8C7B-956856A000DE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000" lnSpcReduction="10000"/>
          </a:bodyPr>
          <a:lstStyle/>
          <a:p>
            <a:pPr algn="l"/>
            <a:r>
              <a:rPr sz="1000" b="1" spc="120">
                <a:solidFill>
                  <a:srgbClr val="B5533C"/>
                </a:solidFill>
                <a:latin typeface="Arial"/>
                <a:ea typeface="Microsoft YaHei"/>
                <a:cs typeface="Arial"/>
              </a:rPr>
              <a:t>微信内容发布秘书处</a:t>
            </a:r>
          </a:p>
        </p:txBody>
      </p:sp>
      <p:sp>
        <p:nvSpPr>
          <p:cNvPr id="2" name="slide-8-title">
            <a:extLst>
              <a:ext uri="{FF2B5EF4-FFF2-40B4-BE49-F238E27FC236}">
                <a16:creationId xmlns:a16="http://schemas.microsoft.com/office/drawing/2014/main" id="{0BDE3328-DF93-4B08-91F4-A9CEFC13C4BF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本地任务库把每次贡献变成可核验的记录</a:t>
            </a:r>
          </a:p>
        </p:txBody>
      </p:sp>
      <p:sp>
        <p:nvSpPr>
          <p:cNvPr id="3" name="slide-8-number">
            <a:extLst>
              <a:ext uri="{FF2B5EF4-FFF2-40B4-BE49-F238E27FC236}">
                <a16:creationId xmlns:a16="http://schemas.microsoft.com/office/drawing/2014/main" id="{FBDDC785-71AD-46AE-A345-799D8CA96F34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 lnSpcReduction="20000"/>
          </a:bodyPr>
          <a:lstStyle/>
          <a:p>
            <a:pPr algn="r"/>
            <a:r>
              <a:rPr lang="en-US" sz="1000" b="1" spc="8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06</a:t>
            </a:r>
            <a:endParaRPr sz="1000" b="1" spc="80">
              <a:solidFill>
                <a:srgbClr val="635B54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4" name="repo-card-1">
            <a:extLst>
              <a:ext uri="{FF2B5EF4-FFF2-40B4-BE49-F238E27FC236}">
                <a16:creationId xmlns:a16="http://schemas.microsoft.com/office/drawing/2014/main" id="{2B180CA7-5D41-43E1-81DB-5A7EB98620C8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3524250" cy="2857500"/>
          </a:xfrm>
          <a:prstGeom prst="roundRect">
            <a:avLst>
              <a:gd name="adj" fmla="val 5333"/>
            </a:avLst>
          </a:prstGeom>
          <a:solidFill>
            <a:srgbClr val="F7F3ED"/>
          </a:solidFill>
          <a:ln w="12700">
            <a:solidFill>
              <a:srgbClr val="DED5C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po-folder-1">
            <a:extLst>
              <a:ext uri="{FF2B5EF4-FFF2-40B4-BE49-F238E27FC236}">
                <a16:creationId xmlns:a16="http://schemas.microsoft.com/office/drawing/2014/main" id="{B6AEA6B8-18A5-4E06-8E78-1BDFC5ED2B01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2990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851"/>
          </a:bodyPr>
          <a:lstStyle/>
          <a:p>
            <a:pPr algn="l"/>
            <a:r>
              <a:rPr sz="1600" b="1">
                <a:solidFill>
                  <a:srgbClr val="B5533C"/>
                </a:solidFill>
                <a:latin typeface="Consolas"/>
                <a:ea typeface="Microsoft YaHei"/>
                <a:cs typeface="Arial"/>
              </a:rPr>
              <a:t>runs/</a:t>
            </a:r>
          </a:p>
        </p:txBody>
      </p:sp>
      <p:sp>
        <p:nvSpPr>
          <p:cNvPr id="6" name="repo-label-1">
            <a:extLst>
              <a:ext uri="{FF2B5EF4-FFF2-40B4-BE49-F238E27FC236}">
                <a16:creationId xmlns:a16="http://schemas.microsoft.com/office/drawing/2014/main" id="{5D36C468-4344-4B35-858E-34822FA3AF6F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/>
            <a:r>
              <a:rPr sz="15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运行审计</a:t>
            </a:r>
          </a:p>
        </p:txBody>
      </p:sp>
      <p:sp>
        <p:nvSpPr>
          <p:cNvPr id="7" name="repo-body-1">
            <a:extLst>
              <a:ext uri="{FF2B5EF4-FFF2-40B4-BE49-F238E27FC236}">
                <a16:creationId xmlns:a16="http://schemas.microsoft.com/office/drawing/2014/main" id="{CE46FDB0-6806-4EAB-8D82-E2E19DC44AA3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95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一次 Agent 执行的状态、报告与本次选择</a:t>
            </a:r>
          </a:p>
        </p:txBody>
      </p:sp>
      <p:sp>
        <p:nvSpPr>
          <p:cNvPr id="8" name="repo-card-2">
            <a:extLst>
              <a:ext uri="{FF2B5EF4-FFF2-40B4-BE49-F238E27FC236}">
                <a16:creationId xmlns:a16="http://schemas.microsoft.com/office/drawing/2014/main" id="{03FCE8F8-9F54-48AD-B406-74B08990C910}"/>
              </a:ext>
            </a:extLst>
          </p:cNvPr>
          <p:cNvSpPr>
            <a:spLocks noGrp="1"/>
          </p:cNvSpPr>
          <p:nvPr/>
        </p:nvSpPr>
        <p:spPr>
          <a:xfrm>
            <a:off x="4324350" y="1952625"/>
            <a:ext cx="3524250" cy="2857500"/>
          </a:xfrm>
          <a:prstGeom prst="roundRect">
            <a:avLst>
              <a:gd name="adj" fmla="val 5333"/>
            </a:avLst>
          </a:prstGeom>
          <a:solidFill>
            <a:srgbClr val="F7F3ED"/>
          </a:solidFill>
          <a:ln w="12700">
            <a:solidFill>
              <a:srgbClr val="DED5C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po-folder-2">
            <a:extLst>
              <a:ext uri="{FF2B5EF4-FFF2-40B4-BE49-F238E27FC236}">
                <a16:creationId xmlns:a16="http://schemas.microsoft.com/office/drawing/2014/main" id="{86E4E13F-F26C-4D02-B4D0-D2567CFC573E}"/>
              </a:ext>
            </a:extLst>
          </p:cNvPr>
          <p:cNvSpPr>
            <a:spLocks noGrp="1"/>
          </p:cNvSpPr>
          <p:nvPr/>
        </p:nvSpPr>
        <p:spPr>
          <a:xfrm>
            <a:off x="4591050" y="2228850"/>
            <a:ext cx="2990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851"/>
          </a:bodyPr>
          <a:lstStyle/>
          <a:p>
            <a:pPr algn="l"/>
            <a:r>
              <a:rPr sz="1600" b="1">
                <a:solidFill>
                  <a:srgbClr val="B5533C"/>
                </a:solidFill>
                <a:latin typeface="Consolas"/>
                <a:ea typeface="Microsoft YaHei"/>
                <a:cs typeface="Arial"/>
              </a:rPr>
              <a:t>tasks/</a:t>
            </a:r>
          </a:p>
        </p:txBody>
      </p:sp>
      <p:sp>
        <p:nvSpPr>
          <p:cNvPr id="10" name="repo-label-2">
            <a:extLst>
              <a:ext uri="{FF2B5EF4-FFF2-40B4-BE49-F238E27FC236}">
                <a16:creationId xmlns:a16="http://schemas.microsoft.com/office/drawing/2014/main" id="{C62997D3-6DC6-49BF-A311-26857DC715C2}"/>
              </a:ext>
            </a:extLst>
          </p:cNvPr>
          <p:cNvSpPr>
            <a:spLocks noGrp="1"/>
          </p:cNvSpPr>
          <p:nvPr/>
        </p:nvSpPr>
        <p:spPr>
          <a:xfrm>
            <a:off x="4591050" y="2876550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/>
            <a:r>
              <a:rPr sz="15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投稿与洗稿</a:t>
            </a:r>
          </a:p>
        </p:txBody>
      </p:sp>
      <p:sp>
        <p:nvSpPr>
          <p:cNvPr id="11" name="repo-body-2">
            <a:extLst>
              <a:ext uri="{FF2B5EF4-FFF2-40B4-BE49-F238E27FC236}">
                <a16:creationId xmlns:a16="http://schemas.microsoft.com/office/drawing/2014/main" id="{853A3785-A3F6-4806-9C8C-043E170A5705}"/>
              </a:ext>
            </a:extLst>
          </p:cNvPr>
          <p:cNvSpPr>
            <a:spLocks noGrp="1"/>
          </p:cNvSpPr>
          <p:nvPr/>
        </p:nvSpPr>
        <p:spPr>
          <a:xfrm>
            <a:off x="4591050" y="3524250"/>
            <a:ext cx="295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投稿内容、原始抓取、结构化 Source 与改写产物</a:t>
            </a:r>
          </a:p>
        </p:txBody>
      </p:sp>
      <p:sp>
        <p:nvSpPr>
          <p:cNvPr id="12" name="repo-card-3">
            <a:extLst>
              <a:ext uri="{FF2B5EF4-FFF2-40B4-BE49-F238E27FC236}">
                <a16:creationId xmlns:a16="http://schemas.microsoft.com/office/drawing/2014/main" id="{FE8DE9C4-463A-47A3-9682-A1EFC5F74196}"/>
              </a:ext>
            </a:extLst>
          </p:cNvPr>
          <p:cNvSpPr>
            <a:spLocks noGrp="1"/>
          </p:cNvSpPr>
          <p:nvPr/>
        </p:nvSpPr>
        <p:spPr>
          <a:xfrm>
            <a:off x="8248650" y="1952625"/>
            <a:ext cx="3524250" cy="2857500"/>
          </a:xfrm>
          <a:prstGeom prst="roundRect">
            <a:avLst>
              <a:gd name="adj" fmla="val 5333"/>
            </a:avLst>
          </a:prstGeom>
          <a:solidFill>
            <a:srgbClr val="F7F3ED"/>
          </a:solidFill>
          <a:ln w="12700">
            <a:solidFill>
              <a:srgbClr val="DED5C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po-folder-3">
            <a:extLst>
              <a:ext uri="{FF2B5EF4-FFF2-40B4-BE49-F238E27FC236}">
                <a16:creationId xmlns:a16="http://schemas.microsoft.com/office/drawing/2014/main" id="{9E06E0A5-9196-4505-9DDE-F5A995A89D85}"/>
              </a:ext>
            </a:extLst>
          </p:cNvPr>
          <p:cNvSpPr>
            <a:spLocks noGrp="1"/>
          </p:cNvSpPr>
          <p:nvPr/>
        </p:nvSpPr>
        <p:spPr>
          <a:xfrm>
            <a:off x="8515350" y="2228850"/>
            <a:ext cx="2990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851"/>
          </a:bodyPr>
          <a:lstStyle/>
          <a:p>
            <a:pPr algn="l"/>
            <a:r>
              <a:rPr sz="1600" b="1">
                <a:solidFill>
                  <a:srgbClr val="B5533C"/>
                </a:solidFill>
                <a:latin typeface="Consolas"/>
                <a:ea typeface="Microsoft YaHei"/>
                <a:cs typeface="Arial"/>
              </a:rPr>
              <a:t>publications/</a:t>
            </a:r>
          </a:p>
        </p:txBody>
      </p:sp>
      <p:sp>
        <p:nvSpPr>
          <p:cNvPr id="14" name="repo-label-3">
            <a:extLst>
              <a:ext uri="{FF2B5EF4-FFF2-40B4-BE49-F238E27FC236}">
                <a16:creationId xmlns:a16="http://schemas.microsoft.com/office/drawing/2014/main" id="{052ED1FA-77B1-4A71-B329-6FD5E274246B}"/>
              </a:ext>
            </a:extLst>
          </p:cNvPr>
          <p:cNvSpPr>
            <a:spLocks noGrp="1"/>
          </p:cNvSpPr>
          <p:nvPr/>
        </p:nvSpPr>
        <p:spPr>
          <a:xfrm>
            <a:off x="8515350" y="2876550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/>
            <a:r>
              <a:rPr sz="150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发布记录</a:t>
            </a:r>
          </a:p>
        </p:txBody>
      </p:sp>
      <p:sp>
        <p:nvSpPr>
          <p:cNvPr id="15" name="repo-body-3">
            <a:extLst>
              <a:ext uri="{FF2B5EF4-FFF2-40B4-BE49-F238E27FC236}">
                <a16:creationId xmlns:a16="http://schemas.microsoft.com/office/drawing/2014/main" id="{30118978-B4BF-4BEC-8D39-C6705C06C205}"/>
              </a:ext>
            </a:extLst>
          </p:cNvPr>
          <p:cNvSpPr>
            <a:spLocks noGrp="1"/>
          </p:cNvSpPr>
          <p:nvPr/>
        </p:nvSpPr>
        <p:spPr>
          <a:xfrm>
            <a:off x="8515350" y="3524250"/>
            <a:ext cx="295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35B54"/>
                </a:solidFill>
                <a:latin typeface="Arial"/>
                <a:ea typeface="Microsoft YaHei"/>
                <a:cs typeface="Arial"/>
              </a:rPr>
              <a:t>独立的发布请求、返回结果与事件轨迹</a:t>
            </a:r>
          </a:p>
        </p:txBody>
      </p:sp>
      <p:sp>
        <p:nvSpPr>
          <p:cNvPr id="16" name="repo-linkage">
            <a:extLst>
              <a:ext uri="{FF2B5EF4-FFF2-40B4-BE49-F238E27FC236}">
                <a16:creationId xmlns:a16="http://schemas.microsoft.com/office/drawing/2014/main" id="{F1ADC0DC-8EE0-4333-9C60-8B39F416ADBF}"/>
              </a:ext>
            </a:extLst>
          </p:cNvPr>
          <p:cNvSpPr>
            <a:spLocks noGrp="1"/>
          </p:cNvSpPr>
          <p:nvPr/>
        </p:nvSpPr>
        <p:spPr>
          <a:xfrm>
            <a:off x="400050" y="5257800"/>
            <a:ext cx="11372850" cy="590550"/>
          </a:xfrm>
          <a:prstGeom prst="roundRect">
            <a:avLst>
              <a:gd name="adj" fmla="val 19355"/>
            </a:avLst>
          </a:prstGeom>
          <a:solidFill>
            <a:srgbClr val="EFE7DA"/>
          </a:solidFill>
          <a:ln w="19050">
            <a:solidFill>
              <a:srgbClr val="C887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po-linkage-text">
            <a:extLst>
              <a:ext uri="{FF2B5EF4-FFF2-40B4-BE49-F238E27FC236}">
                <a16:creationId xmlns:a16="http://schemas.microsoft.com/office/drawing/2014/main" id="{C78E44DE-8E0A-47E9-9437-EECE62B779CF}"/>
              </a:ext>
            </a:extLst>
          </p:cNvPr>
          <p:cNvSpPr>
            <a:spLocks noGrp="1"/>
          </p:cNvSpPr>
          <p:nvPr/>
        </p:nvSpPr>
        <p:spPr>
          <a:xfrm>
            <a:off x="654050" y="5429250"/>
            <a:ext cx="1086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702" lnSpcReduction="20000"/>
          </a:bodyPr>
          <a:lstStyle/>
          <a:p>
            <a:pPr algn="ctr">
              <a:lnSpc>
                <a:spcPct val="130000"/>
              </a:lnSpc>
            </a:pPr>
            <a:r>
              <a:rPr sz="1350" b="1">
                <a:solidFill>
                  <a:srgbClr val="2A2622"/>
                </a:solidFill>
                <a:latin typeface="Arial"/>
                <a:ea typeface="Microsoft YaHei"/>
                <a:cs typeface="Arial"/>
              </a:rPr>
              <a:t>三类记录通过 ID 关联，不互相嵌套；投稿处理与公开发布保持独立。</a:t>
            </a:r>
          </a:p>
        </p:txBody>
      </p:sp>
    </p:spTree>
    <p:extLst>
      <p:ext uri="{BB962C8B-B14F-4D97-AF65-F5344CB8AC3E}">
        <p14:creationId xmlns:p14="http://schemas.microsoft.com/office/powerpoint/2010/main" val="20790188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 [1785250126743]">
  <a:themeElements>
    <a:clrScheme name="ChatGPT">
      <a:dk1>
        <a:srgbClr val="2A2622"/>
      </a:dk1>
      <a:lt1>
        <a:srgbClr val="F7F3ED"/>
      </a:lt1>
      <a:dk2>
        <a:srgbClr val="3E3833"/>
      </a:dk2>
      <a:lt2>
        <a:srgbClr val="EDE5D9"/>
      </a:lt2>
      <a:accent1>
        <a:srgbClr val="B5533C"/>
      </a:accent1>
      <a:accent2>
        <a:srgbClr val="C8873F"/>
      </a:accent2>
      <a:accent3>
        <a:srgbClr val="7A7068"/>
      </a:accent3>
      <a:accent4>
        <a:srgbClr val="8C6A4A"/>
      </a:accent4>
      <a:accent5>
        <a:srgbClr val="A8452F"/>
      </a:accent5>
      <a:accent6>
        <a:srgbClr val="DED5C9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Microsoft YaHei"/>
        <a:cs typeface="Calibri Light"/>
      </a:majorFont>
      <a:minorFont>
        <a:latin typeface="Arial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7861B1-A2CF-9844-804B-1AF41A63988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739b225-bbd1-48fd-b27a-e188012a9b1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725</Words>
  <Application>Microsoft Macintosh PowerPoint</Application>
  <DocSecurity>0</DocSecurity>
  <PresentationFormat>Widescreen</PresentationFormat>
  <Paragraphs>156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ChatGPT [1785250126743]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Kaize Yao</cp:lastModifiedBy>
  <cp:revision>6</cp:revision>
  <dcterms:created xsi:type="dcterms:W3CDTF">2026-07-27T20:32:04Z</dcterms:created>
  <dcterms:modified xsi:type="dcterms:W3CDTF">2026-07-28T16:55:37Z</dcterms:modified>
</cp:coreProperties>
</file>