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865e8781b4a36" /><Relationship Type="http://schemas.openxmlformats.org/officeDocument/2006/relationships/extended-properties" Target="/docProps/app.xml" Id="R769f5a6c19334dc8" /><Relationship Type="http://schemas.openxmlformats.org/officeDocument/2006/relationships/officeDocument" Target="/ppt/presentation.xml" Id="R0071f6f60f0e4d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3d6f77fe9b4cf5"/>
  </p:sldMasterIdLst>
  <p:notesMasterIdLst>
    <p:notesMasterId xmlns:r="http://schemas.openxmlformats.org/officeDocument/2006/relationships" r:id="Rdeae2fb6fe29422c"/>
  </p:notesMasterIdLst>
  <p:sldIdLst>
    <p:sldId xmlns:r="http://schemas.openxmlformats.org/officeDocument/2006/relationships" id="256" r:id="R13122e59ec9c4fd7"/>
    <p:sldId xmlns:r="http://schemas.openxmlformats.org/officeDocument/2006/relationships" id="257" r:id="R6fac4633d9244292"/>
    <p:sldId xmlns:r="http://schemas.openxmlformats.org/officeDocument/2006/relationships" id="258" r:id="R3e9c730f7f1c4749"/>
    <p:sldId xmlns:r="http://schemas.openxmlformats.org/officeDocument/2006/relationships" id="259" r:id="Rc711b15cd1cf4e5a"/>
    <p:sldId xmlns:r="http://schemas.openxmlformats.org/officeDocument/2006/relationships" id="260" r:id="Rc16d2bd0e5ae48f6"/>
    <p:sldId xmlns:r="http://schemas.openxmlformats.org/officeDocument/2006/relationships" id="261" r:id="Rd78b1a39df4041f0"/>
    <p:sldId xmlns:r="http://schemas.openxmlformats.org/officeDocument/2006/relationships" id="262" r:id="R70c7cebbb48c4727"/>
    <p:sldId xmlns:r="http://schemas.openxmlformats.org/officeDocument/2006/relationships" id="263" r:id="R41d2ab5edc4b4a5a"/>
    <p:sldId xmlns:r="http://schemas.openxmlformats.org/officeDocument/2006/relationships" id="264" r:id="Rddcb397ad22b4d12"/>
    <p:sldId xmlns:r="http://schemas.openxmlformats.org/officeDocument/2006/relationships" id="265" r:id="Rffda8fb1166f4f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3758d6ecc348f7" /><Relationship Type="http://schemas.openxmlformats.org/officeDocument/2006/relationships/slideMaster" Target="/ppt/slideMasters/slideMaster1.xml" Id="R223d6f77fe9b4cf5" /><Relationship Type="http://schemas.openxmlformats.org/officeDocument/2006/relationships/notesMaster" Target="/ppt/notesMasters/notesMaster1.xml" Id="Rdeae2fb6fe29422c" /><Relationship Type="http://schemas.openxmlformats.org/officeDocument/2006/relationships/presProps" Target="/ppt/presProps.xml" Id="R927b3993ad434783" /><Relationship Type="http://schemas.openxmlformats.org/officeDocument/2006/relationships/tableStyles" Target="/ppt/tableStyles.xml" Id="R13aaf25a2ec34136" /><Relationship Type="http://schemas.openxmlformats.org/officeDocument/2006/relationships/slide" Target="/ppt/slides/slide1.xml" Id="R13122e59ec9c4fd7" /><Relationship Type="http://schemas.openxmlformats.org/officeDocument/2006/relationships/slide" Target="/ppt/slides/slide2.xml" Id="R6fac4633d9244292" /><Relationship Type="http://schemas.openxmlformats.org/officeDocument/2006/relationships/slide" Target="/ppt/slides/slide3.xml" Id="R3e9c730f7f1c4749" /><Relationship Type="http://schemas.openxmlformats.org/officeDocument/2006/relationships/slide" Target="/ppt/slides/slide4.xml" Id="Rc711b15cd1cf4e5a" /><Relationship Type="http://schemas.openxmlformats.org/officeDocument/2006/relationships/slide" Target="/ppt/slides/slide5.xml" Id="Rc16d2bd0e5ae48f6" /><Relationship Type="http://schemas.openxmlformats.org/officeDocument/2006/relationships/slide" Target="/ppt/slides/slide6.xml" Id="Rd78b1a39df4041f0" /><Relationship Type="http://schemas.openxmlformats.org/officeDocument/2006/relationships/slide" Target="/ppt/slides/slide7.xml" Id="R70c7cebbb48c4727" /><Relationship Type="http://schemas.openxmlformats.org/officeDocument/2006/relationships/slide" Target="/ppt/slides/slide8.xml" Id="R41d2ab5edc4b4a5a" /><Relationship Type="http://schemas.openxmlformats.org/officeDocument/2006/relationships/slide" Target="/ppt/slides/slide9.xml" Id="Rddcb397ad22b4d12" /><Relationship Type="http://schemas.openxmlformats.org/officeDocument/2006/relationships/slide" Target="/ppt/slides/slide10.xml" Id="Rffda8fb1166f4f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3d223a58a148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ebae38f7eb4790" /><Relationship Type="http://schemas.openxmlformats.org/officeDocument/2006/relationships/notesMaster" Target="/ppt/notesMasters/notesMaster1.xml" Id="R0ee1db242ffe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b746fb4d454e5e" /><Relationship Type="http://schemas.openxmlformats.org/officeDocument/2006/relationships/notesMaster" Target="/ppt/notesMasters/notesMaster1.xml" Id="R94a453d6b48345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423caee4034599" /><Relationship Type="http://schemas.openxmlformats.org/officeDocument/2006/relationships/notesMaster" Target="/ppt/notesMasters/notesMaster1.xml" Id="Rbd5861e4139040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cac72f1ba844a2" /><Relationship Type="http://schemas.openxmlformats.org/officeDocument/2006/relationships/notesMaster" Target="/ppt/notesMasters/notesMaster1.xml" Id="Rd6739c0cdfea43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358272cf6b45b4" /><Relationship Type="http://schemas.openxmlformats.org/officeDocument/2006/relationships/notesMaster" Target="/ppt/notesMasters/notesMaster1.xml" Id="R2b059c66581a4d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a47733dca24640" /><Relationship Type="http://schemas.openxmlformats.org/officeDocument/2006/relationships/notesMaster" Target="/ppt/notesMasters/notesMaster1.xml" Id="R01eda441732349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2f07387579493c" /><Relationship Type="http://schemas.openxmlformats.org/officeDocument/2006/relationships/notesMaster" Target="/ppt/notesMasters/notesMaster1.xml" Id="R8ba773b6234c43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03ed35c2984c40" /><Relationship Type="http://schemas.openxmlformats.org/officeDocument/2006/relationships/notesMaster" Target="/ppt/notesMasters/notesMaster1.xml" Id="R811760a978ba42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fbcfb55d564559" /><Relationship Type="http://schemas.openxmlformats.org/officeDocument/2006/relationships/notesMaster" Target="/ppt/notesMasters/notesMaster1.xml" Id="R9d1a81589d8b48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e9ce5b191c4381" /><Relationship Type="http://schemas.openxmlformats.org/officeDocument/2006/relationships/notesMaster" Target="/ppt/notesMasters/notesMaster1.xml" Id="R20616e10dc34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开场只讲业务：这不是一个写作插件，而是一套可运营、可管控的内容秘书处。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/Users/birdy/NyquisteProjects/weixin-blog-publish/docs/weixin-blog-business-architecture.drawio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User-provided Nyquiste AI account, donation, and contribution policy background,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强调这是组织治理问题，而不仅是账号采购或费用报销问题。本页不构成法律意见。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Nyquiste AI account ownership and compliance background,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两条路径都构成认可依据，但用户尚未明确 AND/OR 规则，因此在图中保留为管理层待决事项。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definitions of donation, contribution, recognized users, and account usage rights,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这一页不讨论技术复杂度，只说明为什么需要秘书处：把个人经验变成组织流程。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架构重点：秘书处只有微信客户端和 Agent 两个业务组件；本地任务库是独立留档底座。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/Users/birdy/NyquisteProjects/weixin-blog-publish/docs/weixin-blog-business-architecture.drawio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五项动作来自项目的真实 Skill，不是泛化的 AI 内容流程。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- /Users/birdy/NyquisteProjects/weixin-blog-publish/docs/adr/0002-use-one-portable-end-to-end-skill.md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商业价值是组织能力：入口统一、标准一致、过程可追溯、发布可控制。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/Users/birdy/NyquisteProjects/weixin-blog-publish/CONTEXT.md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向管理层强调：自动化是执行能力，授权与责任仍由人掌握。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- /Users/birdy/NyquisteProjects/weixin-blog-publish/skills/process-weixin-submissions/SKILL.md</a:t>
            </a:r>
          </a:p>
          <a:p xmlns:a="http://schemas.openxmlformats.org/drawingml/2006/main">
            <a:r>
              <a:t>- /Users/birdy/NyquisteProjects/weixin-blog-publish/docs/task-repository-layout.md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不要把“单条真实链路跑通”讲成“系统已 ready”。仓库的正式状态仍是 core_validated。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/Users/birdy/NyquisteProjects/weixin-blog-publish/docs/validation/2026-07-24-macos-wechat-full-article-tracer.md</a:t>
            </a:r>
          </a:p>
          <a:p xmlns:a="http://schemas.openxmlformats.org/drawingml/2006/main">
            <a:r>
              <a:t>- /Users/birdy/NyquisteProjects/weixin-blog-publish/docs/validation/2026-07-24-wechat-auto-publication-tracer.md</a:t>
            </a:r>
          </a:p>
          <a:p xmlns:a="http://schemas.openxmlformats.org/drawingml/2006/main">
            <a:r>
              <a:t>- /Users/birdy/NyquisteProjects/weixin-blog-publish/docs/validation/2026-07-24-live-publication-acceptance.md</a:t>
            </a:r>
          </a:p>
          <a:p xmlns:a="http://schemas.openxmlformats.org/drawingml/2006/main">
            <a:r>
              <a:t>- /Users/birdy/NyquisteProjects/weixin-blog-publish/docs/content-rewrite-policy.md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结束时争取四个管理决策：资格口径、试运行范围、内容规范负责人、发布授权人。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/Users/birdy/NyquisteProjects/weixin-blog-publish/docs/validation/2026-07-24-wechat-auto-publication-tracer.md</a:t>
            </a:r>
          </a:p>
          <a:p xmlns:a="http://schemas.openxmlformats.org/drawingml/2006/main">
            <a:r>
              <a:t>- /Users/birdy/NyquisteProjects/weixin-blog-publish/docs/content-rewrite-policy.md</a:t>
            </a:r>
          </a:p>
          <a:p xmlns:a="http://schemas.openxmlformats.org/drawingml/2006/main">
            <a:r>
              <a:t>- /Users/birdy/NyquisteProjects/weixin-blog-publish/docs/adr/0009-separate-content-work-from-opt-in-publication.md</a:t>
            </a:r>
          </a:p>
          <a:p xmlns:a="http://schemas.openxmlformats.org/drawingml/2006/main">
            <a:r>
              <a:t>- User-provided Nyquiste AI account qualification policy background, 2026-07-27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d0b0a9955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7fdacf716c4f61" /><Relationship Type="http://schemas.openxmlformats.org/officeDocument/2006/relationships/slideLayout" Target="/ppt/slideLayouts/slideLayout1.xml" Id="Rc5b091a6dd9a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b091a6dd9a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0539d805b419d" /><Relationship Type="http://schemas.openxmlformats.org/officeDocument/2006/relationships/notesSlide" Target="/ppt/notesSlides/notesSlide1.xml" Id="Rb800aef0a78643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d47d4501e454b" /><Relationship Type="http://schemas.openxmlformats.org/officeDocument/2006/relationships/notesSlide" Target="/ppt/notesSlides/notesSlide2.xml" Id="R60d26bccae804e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c86e04a984066" /><Relationship Type="http://schemas.openxmlformats.org/officeDocument/2006/relationships/notesSlide" Target="/ppt/notesSlides/notesSlide3.xml" Id="R3bcc947031ce42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5ed92d98b403c" /><Relationship Type="http://schemas.openxmlformats.org/officeDocument/2006/relationships/notesSlide" Target="/ppt/notesSlides/notesSlide4.xml" Id="Rd746ad16fb8644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3339dc2d04595" /><Relationship Type="http://schemas.openxmlformats.org/officeDocument/2006/relationships/notesSlide" Target="/ppt/notesSlides/notesSlide5.xml" Id="R23e31719a4c6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8c714981c4cd4" /><Relationship Type="http://schemas.openxmlformats.org/officeDocument/2006/relationships/notesSlide" Target="/ppt/notesSlides/notesSlide6.xml" Id="Rc9a338aa02584e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651de0a7449c" /><Relationship Type="http://schemas.openxmlformats.org/officeDocument/2006/relationships/notesSlide" Target="/ppt/notesSlides/notesSlide7.xml" Id="R7439596d90c741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4957c8b124ee8" /><Relationship Type="http://schemas.openxmlformats.org/officeDocument/2006/relationships/notesSlide" Target="/ppt/notesSlides/notesSlide8.xml" Id="R2fc60d5459b746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8cde7583349c4" /><Relationship Type="http://schemas.openxmlformats.org/officeDocument/2006/relationships/notesSlide" Target="/ppt/notesSlides/notesSlide9.xml" Id="Rca54fd66b50949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18b7947c44b78" /><Relationship Type="http://schemas.openxmlformats.org/officeDocument/2006/relationships/notesSlide" Target="/ppt/notesSlides/notesSlide10.xml" Id="R2347f540c1a445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41D3F4E-70D3-4CC1-806C-C14BAF10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NYQUISTE AI 全球全家桶 · 组织运营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1C2830-CF0A-475C-A7AF-0748F54C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FD0CB32-DD15-4732-A7E4-26F0461F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把投稿贡献转化为可追踪、可控制的组织内容与用户资格依据</a:t>
            </a:r>
          </a:p>
        </p:txBody>
      </p:sp>
      <p:sp>
        <p:nvSpPr>
          <p:cNvPr id="4" name="cover-accent-block">
            <a:extLst xmlns:a="http://schemas.openxmlformats.org/drawingml/2006/main">
              <a:ext uri="{FF2B5EF4-FFF2-40B4-BE49-F238E27FC236}">
                <a16:creationId xmlns:a16="http://schemas.microsoft.com/office/drawing/2014/main" id="{FC4615C9-06E9-408E-B153-E7E4E8E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800100"/>
            <a:ext cx="1524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5AF8AD25-60E9-4374-A136-C65BFE12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商业汇报 · 2026.07</a:t>
            </a:r>
          </a:p>
        </p:txBody>
      </p:sp>
    </p:spTree>
    <p:extLst>
      <p:ext uri="{BB962C8B-B14F-4D97-AF65-F5344CB8AC3E}">
        <p14:creationId xmlns:p14="http://schemas.microsoft.com/office/powerpoint/2010/main" val="1716295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2-kicker">
            <a:extLst xmlns:a="http://schemas.openxmlformats.org/drawingml/2006/main">
              <a:ext uri="{FF2B5EF4-FFF2-40B4-BE49-F238E27FC236}">
                <a16:creationId xmlns:a16="http://schemas.microsoft.com/office/drawing/2014/main" id="{F1F73C49-22DB-4BDC-8D4D-9749FBEC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Nyquiste AI 全球全家桶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8FA1DA0-DA6A-48BE-86FD-984C853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账号使用权需要一套清晰、可审计的业务依据</a:t>
            </a:r>
          </a:p>
        </p:txBody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4FB040E0-BA82-4013-925A-7959867C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account-context-claim">
            <a:extLst xmlns:a="http://schemas.openxmlformats.org/drawingml/2006/main">
              <a:ext uri="{FF2B5EF4-FFF2-40B4-BE49-F238E27FC236}">
                <a16:creationId xmlns:a16="http://schemas.microsoft.com/office/drawing/2014/main" id="{30FFD9C5-3E04-40F6-9BB5-5BDC4C4E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订阅账号注册在 lsforum / lsdforum 名下域名，组织必须能够解释：谁在使用、为何取得、对应款项与贡献如何留痕。</a:t>
            </a:r>
          </a:p>
        </p:txBody>
      </p:sp>
      <p:sp>
        <p:nvSpPr>
          <p:cNvPr id="5" name="account-context-divider">
            <a:extLst xmlns:a="http://schemas.openxmlformats.org/drawingml/2006/main">
              <a:ext uri="{FF2B5EF4-FFF2-40B4-BE49-F238E27FC236}">
                <a16:creationId xmlns:a16="http://schemas.microsoft.com/office/drawing/2014/main" id="{ACF42440-A433-4811-B645-99DBECE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383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account-point-num-1">
            <a:extLst xmlns:a="http://schemas.openxmlformats.org/drawingml/2006/main">
              <a:ext uri="{FF2B5EF4-FFF2-40B4-BE49-F238E27FC236}">
                <a16:creationId xmlns:a16="http://schemas.microsoft.com/office/drawing/2014/main" id="{9185E4B0-2185-42B2-870D-3B77F41B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ccount-point-title-1">
            <a:extLst xmlns:a="http://schemas.openxmlformats.org/drawingml/2006/main">
              <a:ext uri="{FF2B5EF4-FFF2-40B4-BE49-F238E27FC236}">
                <a16:creationId xmlns:a16="http://schemas.microsoft.com/office/drawing/2014/main" id="{07D5C59C-42E7-43AB-A971-D6D172CB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04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账号归属组织</a:t>
            </a:r>
          </a:p>
        </p:txBody>
      </p:sp>
      <p:sp>
        <p:nvSpPr>
          <p:cNvPr id="8" name="account-point-body-1">
            <a:extLst xmlns:a="http://schemas.openxmlformats.org/drawingml/2006/main">
              <a:ext uri="{FF2B5EF4-FFF2-40B4-BE49-F238E27FC236}">
                <a16:creationId xmlns:a16="http://schemas.microsoft.com/office/drawing/2014/main" id="{ADB5AA02-2DB0-4C05-A13F-905E433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用户获得的是账号使用权，而非账号所有权。</a:t>
            </a:r>
          </a:p>
        </p:txBody>
      </p:sp>
      <p:sp>
        <p:nvSpPr>
          <p:cNvPr id="9" name="account-point-num-2">
            <a:extLst xmlns:a="http://schemas.openxmlformats.org/drawingml/2006/main">
              <a:ext uri="{FF2B5EF4-FFF2-40B4-BE49-F238E27FC236}">
                <a16:creationId xmlns:a16="http://schemas.microsoft.com/office/drawing/2014/main" id="{9CA84C74-C03C-422A-9360-C615E8D2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81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account-point-title-2">
            <a:extLst xmlns:a="http://schemas.openxmlformats.org/drawingml/2006/main">
              <a:ext uri="{FF2B5EF4-FFF2-40B4-BE49-F238E27FC236}">
                <a16:creationId xmlns:a16="http://schemas.microsoft.com/office/drawing/2014/main" id="{0EAF9919-03BF-4265-9327-F704F3B0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241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资格需要依据</a:t>
            </a:r>
          </a:p>
        </p:txBody>
      </p:sp>
      <p:sp>
        <p:nvSpPr>
          <p:cNvPr id="11" name="account-point-body-2">
            <a:extLst xmlns:a="http://schemas.openxmlformats.org/drawingml/2006/main">
              <a:ext uri="{FF2B5EF4-FFF2-40B4-BE49-F238E27FC236}">
                <a16:creationId xmlns:a16="http://schemas.microsoft.com/office/drawing/2014/main" id="{FC30B753-827C-48A3-B270-FC35C6F7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捐赠与内容贡献构成组织认可用户的业务依据。</a:t>
            </a:r>
          </a:p>
        </p:txBody>
      </p:sp>
      <p:sp>
        <p:nvSpPr>
          <p:cNvPr id="12" name="account-point-num-3">
            <a:extLst xmlns:a="http://schemas.openxmlformats.org/drawingml/2006/main">
              <a:ext uri="{FF2B5EF4-FFF2-40B4-BE49-F238E27FC236}">
                <a16:creationId xmlns:a16="http://schemas.microsoft.com/office/drawing/2014/main" id="{0DD57E0A-ED86-4AAC-A5B6-204963F3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005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account-point-title-3">
            <a:extLst xmlns:a="http://schemas.openxmlformats.org/drawingml/2006/main">
              <a:ext uri="{FF2B5EF4-FFF2-40B4-BE49-F238E27FC236}">
                <a16:creationId xmlns:a16="http://schemas.microsoft.com/office/drawing/2014/main" id="{5D44BA39-9149-4CC6-9846-E2BCA8E8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43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往来必须留痕</a:t>
            </a:r>
          </a:p>
        </p:txBody>
      </p:sp>
      <p:sp>
        <p:nvSpPr>
          <p:cNvPr id="14" name="account-point-body-3">
            <a:extLst xmlns:a="http://schemas.openxmlformats.org/drawingml/2006/main">
              <a:ext uri="{FF2B5EF4-FFF2-40B4-BE49-F238E27FC236}">
                <a16:creationId xmlns:a16="http://schemas.microsoft.com/office/drawing/2014/main" id="{57F88BBC-2701-4E4A-9B3D-152F869A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529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身份、款项、文章与账号使用资格需要能够相互核验。</a:t>
            </a:r>
          </a:p>
        </p:txBody>
      </p:sp>
      <p:sp>
        <p:nvSpPr>
          <p:cNvPr id="15" name="account-policy-note">
            <a:extLst xmlns:a="http://schemas.openxmlformats.org/drawingml/2006/main">
              <a:ext uri="{FF2B5EF4-FFF2-40B4-BE49-F238E27FC236}">
                <a16:creationId xmlns:a16="http://schemas.microsoft.com/office/drawing/2014/main" id="{50F7AD84-D97E-44C8-B3C4-B2671E43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6572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6" name="account-policy-note-text">
            <a:extLst xmlns:a="http://schemas.openxmlformats.org/drawingml/2006/main">
              <a:ext uri="{FF2B5EF4-FFF2-40B4-BE49-F238E27FC236}">
                <a16:creationId xmlns:a16="http://schemas.microsoft.com/office/drawing/2014/main" id="{017395AF-C39B-4501-93B8-CD84B9AE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9675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54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A4A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A4A00"/>
                </a:solidFill>
                <a:latin typeface="Arial"/>
                <a:ea typeface="Arial"/>
                <a:cs typeface="Arial"/>
              </a:rPr>
              <a:t>合规定位需由法律、财务与组织治理负责人共同确认；本汇报仅描述业务方针。</a:t>
            </a:r>
          </a:p>
        </p:txBody>
      </p:sp>
    </p:spTree>
    <p:extLst>
      <p:ext uri="{BB962C8B-B14F-4D97-AF65-F5344CB8AC3E}">
        <p14:creationId xmlns:p14="http://schemas.microsoft.com/office/powerpoint/2010/main" val="7720737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3-kicker">
            <a:extLst xmlns:a="http://schemas.openxmlformats.org/drawingml/2006/main">
              <a:ext uri="{FF2B5EF4-FFF2-40B4-BE49-F238E27FC236}">
                <a16:creationId xmlns:a16="http://schemas.microsoft.com/office/drawing/2014/main" id="{7D1717F5-F821-455C-81FD-1EC123B9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Nyquiste AI 全球全家桶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1A2A357-334E-4015-96C7-74F7876E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组织以“捐赠 + 内容贡献”形成用户认可依据</a:t>
            </a:r>
          </a:p>
        </p:txBody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BFD1E13D-415D-4A9D-8E4D-04C9EA4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ognition-user-donation-arrow">
            <a:extLst xmlns:a="http://schemas.openxmlformats.org/drawingml/2006/main">
              <a:ext uri="{FF2B5EF4-FFF2-40B4-BE49-F238E27FC236}">
                <a16:creationId xmlns:a16="http://schemas.microsoft.com/office/drawing/2014/main" id="{EB8A9A84-0E68-4202-BB0A-5C5E9E9B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0507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A84A"/>
          </a:solidFill>
          <a:ln xmlns:a="http://schemas.openxmlformats.org/drawingml/2006/main" w="0">
            <a:solidFill>
              <a:srgbClr val="F6A84A"/>
            </a:solidFill>
            <a:prstDash val="solid"/>
          </a:ln>
        </p:spPr>
      </p:sp>
      <p:sp>
        <p:nvSpPr>
          <p:cNvPr id="5" name="recognition-user-contribution-arrow">
            <a:extLst xmlns:a="http://schemas.openxmlformats.org/drawingml/2006/main">
              <a:ext uri="{FF2B5EF4-FFF2-40B4-BE49-F238E27FC236}">
                <a16:creationId xmlns:a16="http://schemas.microsoft.com/office/drawing/2014/main" id="{80C76F8E-031E-441D-B921-C386B40E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recognition-donation-org-arrow">
            <a:extLst xmlns:a="http://schemas.openxmlformats.org/drawingml/2006/main">
              <a:ext uri="{FF2B5EF4-FFF2-40B4-BE49-F238E27FC236}">
                <a16:creationId xmlns:a16="http://schemas.microsoft.com/office/drawing/2014/main" id="{C5A56B69-6E6B-416C-A528-624D0010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05075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6A84A"/>
          </a:solidFill>
          <a:ln xmlns:a="http://schemas.openxmlformats.org/drawingml/2006/main" w="0">
            <a:solidFill>
              <a:srgbClr val="F6A84A"/>
            </a:solidFill>
            <a:prstDash val="solid"/>
          </a:ln>
        </p:spPr>
      </p:sp>
      <p:sp>
        <p:nvSpPr>
          <p:cNvPr id="7" name="recognition-contribution-org-arrow">
            <a:extLst xmlns:a="http://schemas.openxmlformats.org/drawingml/2006/main">
              <a:ext uri="{FF2B5EF4-FFF2-40B4-BE49-F238E27FC236}">
                <a16:creationId xmlns:a16="http://schemas.microsoft.com/office/drawing/2014/main" id="{717231A4-787C-4AE7-ABDE-3D2BDD61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recognition-org-right-arrow">
            <a:extLst xmlns:a="http://schemas.openxmlformats.org/drawingml/2006/main">
              <a:ext uri="{FF2B5EF4-FFF2-40B4-BE49-F238E27FC236}">
                <a16:creationId xmlns:a16="http://schemas.microsoft.com/office/drawing/2014/main" id="{82291C89-B143-4813-BC8B-B36A61BF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09925"/>
            <a:ext cx="8572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9" name="recognition-user">
            <a:extLst xmlns:a="http://schemas.openxmlformats.org/drawingml/2006/main">
              <a:ext uri="{FF2B5EF4-FFF2-40B4-BE49-F238E27FC236}">
                <a16:creationId xmlns:a16="http://schemas.microsoft.com/office/drawing/2014/main" id="{2DB64621-0AC8-4410-AC1D-F90D6812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666875" cy="1809750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0" name="recognition-user-title">
            <a:extLst xmlns:a="http://schemas.openxmlformats.org/drawingml/2006/main">
              <a:ext uri="{FF2B5EF4-FFF2-40B4-BE49-F238E27FC236}">
                <a16:creationId xmlns:a16="http://schemas.microsoft.com/office/drawing/2014/main" id="{A7854844-A1F2-465A-BCD6-1C049F4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81300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11" name="recognition-user-body">
            <a:extLst xmlns:a="http://schemas.openxmlformats.org/drawingml/2006/main">
              <a:ext uri="{FF2B5EF4-FFF2-40B4-BE49-F238E27FC236}">
                <a16:creationId xmlns:a16="http://schemas.microsoft.com/office/drawing/2014/main" id="{6441F567-208E-4C55-BAAD-A6DDAAA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97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认同组织理念</a:t>
            </a:r>
          </a:p>
          <a:p xmlns:a="http://schemas.openxmlformats.org/drawingml/2006/main">
            <a:pPr algn="ctr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参与组织生态</a:t>
            </a:r>
          </a:p>
        </p:txBody>
      </p:sp>
      <p:sp>
        <p:nvSpPr>
          <p:cNvPr id="12" name="recognition-donation">
            <a:extLst xmlns:a="http://schemas.openxmlformats.org/drawingml/2006/main">
              <a:ext uri="{FF2B5EF4-FFF2-40B4-BE49-F238E27FC236}">
                <a16:creationId xmlns:a16="http://schemas.microsoft.com/office/drawing/2014/main" id="{B19CA1C4-DC4A-4DE3-ACEE-121E4326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76450"/>
            <a:ext cx="2286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F6A84A"/>
            </a:solidFill>
            <a:prstDash val="solid"/>
          </a:ln>
        </p:spPr>
      </p:sp>
      <p:sp>
        <p:nvSpPr>
          <p:cNvPr id="13" name="recognition-donation-title">
            <a:extLst xmlns:a="http://schemas.openxmlformats.org/drawingml/2006/main">
              <a:ext uri="{FF2B5EF4-FFF2-40B4-BE49-F238E27FC236}">
                <a16:creationId xmlns:a16="http://schemas.microsoft.com/office/drawing/2014/main" id="{088231D0-363E-4C0D-AB07-6C744B6A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2410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捐赠</a:t>
            </a:r>
          </a:p>
        </p:txBody>
      </p:sp>
      <p:sp>
        <p:nvSpPr>
          <p:cNvPr id="14" name="recognition-donation-body">
            <a:extLst xmlns:a="http://schemas.openxmlformats.org/drawingml/2006/main">
              <a:ext uri="{FF2B5EF4-FFF2-40B4-BE49-F238E27FC236}">
                <a16:creationId xmlns:a16="http://schemas.microsoft.com/office/drawing/2014/main" id="{DFB95799-19E8-45B7-A767-BDE4C65C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24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用户认同组织理念，并向组织捐赠的款项</a:t>
            </a:r>
          </a:p>
        </p:txBody>
      </p:sp>
      <p:sp>
        <p:nvSpPr>
          <p:cNvPr id="15" name="recognition-contribution">
            <a:extLst xmlns:a="http://schemas.openxmlformats.org/drawingml/2006/main">
              <a:ext uri="{FF2B5EF4-FFF2-40B4-BE49-F238E27FC236}">
                <a16:creationId xmlns:a16="http://schemas.microsoft.com/office/drawing/2014/main" id="{DCE1AF0C-1C65-4CBB-9A4F-6DAA2DF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43300"/>
            <a:ext cx="22860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6" name="recognition-contribution-title">
            <a:extLst xmlns:a="http://schemas.openxmlformats.org/drawingml/2006/main">
              <a:ext uri="{FF2B5EF4-FFF2-40B4-BE49-F238E27FC236}">
                <a16:creationId xmlns:a16="http://schemas.microsoft.com/office/drawing/2014/main" id="{BB9152F6-CB6E-4EFA-B7CC-B28382B6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909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贡献</a:t>
            </a:r>
          </a:p>
        </p:txBody>
      </p:sp>
      <p:sp>
        <p:nvSpPr>
          <p:cNvPr id="17" name="recognition-contribution-body">
            <a:extLst xmlns:a="http://schemas.openxmlformats.org/drawingml/2006/main">
              <a:ext uri="{FF2B5EF4-FFF2-40B4-BE49-F238E27FC236}">
                <a16:creationId xmlns:a16="http://schemas.microsoft.com/office/drawing/2014/main" id="{E7DBE027-FE84-4EDC-A4A8-4D39E38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910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用户提交内容，并经由组织 Blog 发布的文章</a:t>
            </a:r>
          </a:p>
        </p:txBody>
      </p:sp>
      <p:sp>
        <p:nvSpPr>
          <p:cNvPr id="18" name="recognition-organization">
            <a:extLst xmlns:a="http://schemas.openxmlformats.org/drawingml/2006/main">
              <a:ext uri="{FF2B5EF4-FFF2-40B4-BE49-F238E27FC236}">
                <a16:creationId xmlns:a16="http://schemas.microsoft.com/office/drawing/2014/main" id="{691B7CFD-8710-4B8B-B4C1-98A35E61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2476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1430">
            <a:solidFill>
              <a:srgbClr val="8BCBB7"/>
            </a:solidFill>
            <a:prstDash val="solid"/>
          </a:ln>
        </p:spPr>
      </p:sp>
      <p:sp>
        <p:nvSpPr>
          <p:cNvPr id="19" name="recognition-organization-title">
            <a:extLst xmlns:a="http://schemas.openxmlformats.org/drawingml/2006/main">
              <a:ext uri="{FF2B5EF4-FFF2-40B4-BE49-F238E27FC236}">
                <a16:creationId xmlns:a16="http://schemas.microsoft.com/office/drawing/2014/main" id="{440DE04C-9A2B-479F-92F2-0F9CA42C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8C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18C6B"/>
                </a:solidFill>
                <a:latin typeface="Arial"/>
                <a:ea typeface="Arial"/>
                <a:cs typeface="Arial"/>
              </a:rPr>
              <a:t>组织认可</a:t>
            </a:r>
          </a:p>
        </p:txBody>
      </p:sp>
      <p:sp>
        <p:nvSpPr>
          <p:cNvPr id="20" name="recognition-organization-body">
            <a:extLst xmlns:a="http://schemas.openxmlformats.org/drawingml/2006/main">
              <a:ext uri="{FF2B5EF4-FFF2-40B4-BE49-F238E27FC236}">
                <a16:creationId xmlns:a16="http://schemas.microsoft.com/office/drawing/2014/main" id="{268E8262-7752-4307-AC60-3795FC69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528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捐赠者</a:t>
            </a:r>
          </a:p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贡献者</a:t>
            </a:r>
          </a:p>
        </p:txBody>
      </p:sp>
      <p:sp>
        <p:nvSpPr>
          <p:cNvPr id="21" name="recognition-account-right">
            <a:extLst xmlns:a="http://schemas.openxmlformats.org/drawingml/2006/main">
              <a:ext uri="{FF2B5EF4-FFF2-40B4-BE49-F238E27FC236}">
                <a16:creationId xmlns:a16="http://schemas.microsoft.com/office/drawing/2014/main" id="{9DD854B3-61CB-44FA-90AB-C1370464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714625"/>
            <a:ext cx="1619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22" name="recognition-account-right-title">
            <a:extLst xmlns:a="http://schemas.openxmlformats.org/drawingml/2006/main">
              <a:ext uri="{FF2B5EF4-FFF2-40B4-BE49-F238E27FC236}">
                <a16:creationId xmlns:a16="http://schemas.microsoft.com/office/drawing/2014/main" id="{EBEF0195-D591-4A13-BB22-B123DD0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账号使用权</a:t>
            </a:r>
          </a:p>
        </p:txBody>
      </p:sp>
      <p:sp>
        <p:nvSpPr>
          <p:cNvPr id="23" name="recognition-account-right-body">
            <a:extLst xmlns:a="http://schemas.openxmlformats.org/drawingml/2006/main">
              <a:ext uri="{FF2B5EF4-FFF2-40B4-BE49-F238E27FC236}">
                <a16:creationId xmlns:a16="http://schemas.microsoft.com/office/drawing/2014/main" id="{947A1FFB-22A0-424D-B5BE-8ADF841F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38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053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组织名下订阅账号</a:t>
            </a:r>
          </a:p>
        </p:txBody>
      </p:sp>
      <p:sp>
        <p:nvSpPr>
          <p:cNvPr id="24" name="recognition-open-question">
            <a:extLst xmlns:a="http://schemas.openxmlformats.org/drawingml/2006/main">
              <a:ext uri="{FF2B5EF4-FFF2-40B4-BE49-F238E27FC236}">
                <a16:creationId xmlns:a16="http://schemas.microsoft.com/office/drawing/2014/main" id="{232DC043-E496-49FD-81A7-43322A7F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43500"/>
            <a:ext cx="58102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11430">
            <a:solidFill>
              <a:srgbClr val="E19A9A"/>
            </a:solidFill>
            <a:prstDash val="solid"/>
          </a:ln>
        </p:spPr>
      </p:sp>
      <p:sp>
        <p:nvSpPr>
          <p:cNvPr id="25" name="recognition-open-question-text">
            <a:extLst xmlns:a="http://schemas.openxmlformats.org/drawingml/2006/main">
              <a:ext uri="{FF2B5EF4-FFF2-40B4-BE49-F238E27FC236}">
                <a16:creationId xmlns:a16="http://schemas.microsoft.com/office/drawing/2014/main" id="{2599D43D-3B59-4AB8-BCC6-14B6E5A6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054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49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3D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3D3D"/>
                </a:solidFill>
                <a:latin typeface="Arial"/>
                <a:ea typeface="Arial"/>
                <a:cs typeface="Arial"/>
              </a:rPr>
              <a:t>待明确：捐赠与贡献需同时满足，还是满足其一即可？资格有效期与撤销规则是什么？</a:t>
            </a:r>
          </a:p>
        </p:txBody>
      </p:sp>
    </p:spTree>
    <p:extLst>
      <p:ext uri="{BB962C8B-B14F-4D97-AF65-F5344CB8AC3E}">
        <p14:creationId xmlns:p14="http://schemas.microsoft.com/office/powerpoint/2010/main" val="1189034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kicker">
            <a:extLst xmlns:a="http://schemas.openxmlformats.org/drawingml/2006/main">
              <a:ext uri="{FF2B5EF4-FFF2-40B4-BE49-F238E27FC236}">
                <a16:creationId xmlns:a16="http://schemas.microsoft.com/office/drawing/2014/main" id="{FD14AE55-2C25-4CE0-A32A-C62FBB47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2A67393-D140-4CD2-863A-6111CDD7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当前真正的问题，不是“写一篇文章”</a:t>
            </a:r>
          </a:p>
        </p:txBody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64604DE-AE7A-40AF-BE66-C9E7605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E44E1DB9-296C-4E7E-8C77-2DA49059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需求散落在聊天里，处理依赖个人经验，发布风险难以被组织化管理。</a:t>
            </a:r>
          </a:p>
        </p:txBody>
      </p:sp>
      <p:sp>
        <p:nvSpPr>
          <p:cNvPr id="5" name="point-1-num">
            <a:extLst xmlns:a="http://schemas.openxmlformats.org/drawingml/2006/main">
              <a:ext uri="{FF2B5EF4-FFF2-40B4-BE49-F238E27FC236}">
                <a16:creationId xmlns:a16="http://schemas.microsoft.com/office/drawing/2014/main" id="{6FD5A767-8182-4BFA-AB08-ED1E0CC1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A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A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point-1-rule">
            <a:extLst xmlns:a="http://schemas.openxmlformats.org/drawingml/2006/main">
              <a:ext uri="{FF2B5EF4-FFF2-40B4-BE49-F238E27FC236}">
                <a16:creationId xmlns:a16="http://schemas.microsoft.com/office/drawing/2014/main" id="{912B7B70-3B24-431F-8885-14409C8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oint-1-title">
            <a:extLst xmlns:a="http://schemas.openxmlformats.org/drawingml/2006/main">
              <a:ext uri="{FF2B5EF4-FFF2-40B4-BE49-F238E27FC236}">
                <a16:creationId xmlns:a16="http://schemas.microsoft.com/office/drawing/2014/main" id="{0F6E9C79-9FDF-475F-9D53-8883B8D5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入口非标准</a:t>
            </a:r>
          </a:p>
        </p:txBody>
      </p:sp>
      <p:sp>
        <p:nvSpPr>
          <p:cNvPr id="8" name="point-1-body">
            <a:extLst xmlns:a="http://schemas.openxmlformats.org/drawingml/2006/main">
              <a:ext uri="{FF2B5EF4-FFF2-40B4-BE49-F238E27FC236}">
                <a16:creationId xmlns:a16="http://schemas.microsoft.com/office/drawing/2014/main" id="{38F9A252-A751-48B4-B8DD-9DF65A7B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指令、作者信息与 Source 混在消息里，容易遗漏或误读。</a:t>
            </a:r>
          </a:p>
        </p:txBody>
      </p:sp>
      <p:sp>
        <p:nvSpPr>
          <p:cNvPr id="9" name="point-2-num">
            <a:extLst xmlns:a="http://schemas.openxmlformats.org/drawingml/2006/main">
              <a:ext uri="{FF2B5EF4-FFF2-40B4-BE49-F238E27FC236}">
                <a16:creationId xmlns:a16="http://schemas.microsoft.com/office/drawing/2014/main" id="{A8E7243F-303D-471F-AAB5-82839A98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oint-2-rule">
            <a:extLst xmlns:a="http://schemas.openxmlformats.org/drawingml/2006/main">
              <a:ext uri="{FF2B5EF4-FFF2-40B4-BE49-F238E27FC236}">
                <a16:creationId xmlns:a16="http://schemas.microsoft.com/office/drawing/2014/main" id="{63F2F71F-D2C5-4842-980F-88E9E0FF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oint-2-title">
            <a:extLst xmlns:a="http://schemas.openxmlformats.org/drawingml/2006/main">
              <a:ext uri="{FF2B5EF4-FFF2-40B4-BE49-F238E27FC236}">
                <a16:creationId xmlns:a16="http://schemas.microsoft.com/office/drawing/2014/main" id="{9102C1A0-AB83-4777-93F5-55B422B1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过程不可见</a:t>
            </a:r>
          </a:p>
        </p:txBody>
      </p:sp>
      <p:sp>
        <p:nvSpPr>
          <p:cNvPr id="12" name="point-2-body">
            <a:extLst xmlns:a="http://schemas.openxmlformats.org/drawingml/2006/main">
              <a:ext uri="{FF2B5EF4-FFF2-40B4-BE49-F238E27FC236}">
                <a16:creationId xmlns:a16="http://schemas.microsoft.com/office/drawing/2014/main" id="{7577BEF0-5528-47B7-AC69-04B06907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内容处理到哪一步、遇到什么阻塞，往往依赖个人记忆。</a:t>
            </a:r>
          </a:p>
        </p:txBody>
      </p:sp>
      <p:sp>
        <p:nvSpPr>
          <p:cNvPr id="13" name="point-3-num">
            <a:extLst xmlns:a="http://schemas.openxmlformats.org/drawingml/2006/main">
              <a:ext uri="{FF2B5EF4-FFF2-40B4-BE49-F238E27FC236}">
                <a16:creationId xmlns:a16="http://schemas.microsoft.com/office/drawing/2014/main" id="{75BFA3B0-3246-4986-8127-9ACAB21C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point-3-rule">
            <a:extLst xmlns:a="http://schemas.openxmlformats.org/drawingml/2006/main">
              <a:ext uri="{FF2B5EF4-FFF2-40B4-BE49-F238E27FC236}">
                <a16:creationId xmlns:a16="http://schemas.microsoft.com/office/drawing/2014/main" id="{AF8E85E9-9C83-43FD-B80F-8D6042743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oint-3-title">
            <a:extLst xmlns:a="http://schemas.openxmlformats.org/drawingml/2006/main">
              <a:ext uri="{FF2B5EF4-FFF2-40B4-BE49-F238E27FC236}">
                <a16:creationId xmlns:a16="http://schemas.microsoft.com/office/drawing/2014/main" id="{C520EFB9-08E4-4C38-B991-F7FB544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发布不可失控</a:t>
            </a:r>
          </a:p>
        </p:txBody>
      </p:sp>
      <p:sp>
        <p:nvSpPr>
          <p:cNvPr id="16" name="point-3-body">
            <a:extLst xmlns:a="http://schemas.openxmlformats.org/drawingml/2006/main">
              <a:ext uri="{FF2B5EF4-FFF2-40B4-BE49-F238E27FC236}">
                <a16:creationId xmlns:a16="http://schemas.microsoft.com/office/drawing/2014/main" id="{8F210F34-47D3-4B6E-B0ED-49B9C43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672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内容一旦对外，错误作者、缺图或重复发布都会形成业务风险。</a:t>
            </a:r>
          </a:p>
        </p:txBody>
      </p:sp>
    </p:spTree>
    <p:extLst>
      <p:ext uri="{BB962C8B-B14F-4D97-AF65-F5344CB8AC3E}">
        <p14:creationId xmlns:p14="http://schemas.microsoft.com/office/powerpoint/2010/main" val="2129633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lide-5-kicker">
            <a:extLst xmlns:a="http://schemas.openxmlformats.org/drawingml/2006/main">
              <a:ext uri="{FF2B5EF4-FFF2-40B4-BE49-F238E27FC236}">
                <a16:creationId xmlns:a16="http://schemas.microsoft.com/office/drawing/2014/main" id="{03B119AF-429F-4915-A5AA-D33337C7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C4D1ADD2-2823-429B-AF57-DF335CED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秘书处把用户需求变成一条可管理的内容链路</a:t>
            </a:r>
          </a:p>
        </p:txBody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F64A3A31-566E-4914-A510-6E4E3D0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architecture-user-arrow">
            <a:extLst xmlns:a="http://schemas.openxmlformats.org/drawingml/2006/main">
              <a:ext uri="{FF2B5EF4-FFF2-40B4-BE49-F238E27FC236}">
                <a16:creationId xmlns:a16="http://schemas.microsoft.com/office/drawing/2014/main" id="{A7BF43C9-E0FA-4198-B15E-FCC03CA9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57500"/>
            <a:ext cx="6096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architecture-agent-pull-arrow">
            <a:extLst xmlns:a="http://schemas.openxmlformats.org/drawingml/2006/main">
              <a:ext uri="{FF2B5EF4-FFF2-40B4-BE49-F238E27FC236}">
                <a16:creationId xmlns:a16="http://schemas.microsoft.com/office/drawing/2014/main" id="{73493ABF-9050-4C6D-AA19-E346C9C0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14750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architecture-blog-arrow">
            <a:extLst xmlns:a="http://schemas.openxmlformats.org/drawingml/2006/main">
              <a:ext uri="{FF2B5EF4-FFF2-40B4-BE49-F238E27FC236}">
                <a16:creationId xmlns:a16="http://schemas.microsoft.com/office/drawing/2014/main" id="{CB994436-A702-4B33-87F8-4F626B3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7" name="architecture-agent-repo-line">
            <a:extLst xmlns:a="http://schemas.openxmlformats.org/drawingml/2006/main">
              <a:ext uri="{FF2B5EF4-FFF2-40B4-BE49-F238E27FC236}">
                <a16:creationId xmlns:a16="http://schemas.microsoft.com/office/drawing/2014/main" id="{A2FCD005-E0E8-456F-95FD-F814AD72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6720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68F"/>
            </a:solidFill>
            <a:prstDash val="dash"/>
          </a:ln>
        </p:spPr>
      </p:sp>
      <p:sp>
        <p:nvSpPr>
          <p:cNvPr id="8" name="architecture-user-area">
            <a:extLst xmlns:a="http://schemas.openxmlformats.org/drawingml/2006/main">
              <a:ext uri="{FF2B5EF4-FFF2-40B4-BE49-F238E27FC236}">
                <a16:creationId xmlns:a16="http://schemas.microsoft.com/office/drawing/2014/main" id="{D64BE302-4C06-4167-AC8C-6BF3C38E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0"/>
            <a:ext cx="1762125" cy="2667000"/>
          </a:xfrm>
          <a:prstGeom xmlns:a="http://schemas.openxmlformats.org/drawingml/2006/main" prst="roundRect">
            <a:avLst>
              <a:gd name="adj" fmla="val 973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9" name="architecture-user-title">
            <a:extLst xmlns:a="http://schemas.openxmlformats.org/drawingml/2006/main">
              <a:ext uri="{FF2B5EF4-FFF2-40B4-BE49-F238E27FC236}">
                <a16:creationId xmlns:a16="http://schemas.microsoft.com/office/drawing/2014/main" id="{9AEFF50E-EE3B-4A87-95F8-45C2AC94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10" name="architecture-user-body">
            <a:extLst xmlns:a="http://schemas.openxmlformats.org/drawingml/2006/main">
              <a:ext uri="{FF2B5EF4-FFF2-40B4-BE49-F238E27FC236}">
                <a16:creationId xmlns:a16="http://schemas.microsoft.com/office/drawing/2014/main" id="{FAC57E9F-5D13-4FC6-98ED-921B2172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28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发文需求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Source 材料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必要补充信息</a:t>
            </a:r>
          </a:p>
        </p:txBody>
      </p:sp>
      <p:sp>
        <p:nvSpPr>
          <p:cNvPr id="11" name="architecture-secretariat-area">
            <a:extLst xmlns:a="http://schemas.openxmlformats.org/drawingml/2006/main">
              <a:ext uri="{FF2B5EF4-FFF2-40B4-BE49-F238E27FC236}">
                <a16:creationId xmlns:a16="http://schemas.microsoft.com/office/drawing/2014/main" id="{BE292010-B7F2-4147-8D64-088FA1A9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28750"/>
            <a:ext cx="6715125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12" name="architecture-secretariat-title">
            <a:extLst xmlns:a="http://schemas.openxmlformats.org/drawingml/2006/main">
              <a:ext uri="{FF2B5EF4-FFF2-40B4-BE49-F238E27FC236}">
                <a16:creationId xmlns:a16="http://schemas.microsoft.com/office/drawing/2014/main" id="{8AD2352C-2BFE-469A-B35B-6E8F7721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1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秘书处</a:t>
            </a:r>
          </a:p>
        </p:txBody>
      </p:sp>
      <p:sp>
        <p:nvSpPr>
          <p:cNvPr id="13" name="architecture-secretariat-subtitle">
            <a:extLst xmlns:a="http://schemas.openxmlformats.org/drawingml/2006/main">
              <a:ext uri="{FF2B5EF4-FFF2-40B4-BE49-F238E27FC236}">
                <a16:creationId xmlns:a16="http://schemas.microsoft.com/office/drawing/2014/main" id="{F586A8EC-AE86-4B72-B130-EC86F658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716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接收需求并转化为可发布内容</a:t>
            </a:r>
          </a:p>
        </p:txBody>
      </p:sp>
      <p:sp>
        <p:nvSpPr>
          <p:cNvPr id="14" name="architecture-wechat">
            <a:extLst xmlns:a="http://schemas.openxmlformats.org/drawingml/2006/main">
              <a:ext uri="{FF2B5EF4-FFF2-40B4-BE49-F238E27FC236}">
                <a16:creationId xmlns:a16="http://schemas.microsoft.com/office/drawing/2014/main" id="{7998E04B-1F25-41C7-8C6C-F52A5D63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81250"/>
            <a:ext cx="2381250" cy="1857375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F6A84A"/>
            </a:solidFill>
            <a:prstDash val="solid"/>
          </a:ln>
        </p:spPr>
      </p:sp>
      <p:sp>
        <p:nvSpPr>
          <p:cNvPr id="15" name="architecture-wechat-title">
            <a:extLst xmlns:a="http://schemas.openxmlformats.org/drawingml/2006/main">
              <a:ext uri="{FF2B5EF4-FFF2-40B4-BE49-F238E27FC236}">
                <a16:creationId xmlns:a16="http://schemas.microsoft.com/office/drawing/2014/main" id="{F9D0B756-6085-4807-AF0B-1EE996E6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431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微信客户端</a:t>
            </a:r>
          </a:p>
        </p:txBody>
      </p:sp>
      <p:sp>
        <p:nvSpPr>
          <p:cNvPr id="16" name="architecture-chat">
            <a:extLst xmlns:a="http://schemas.openxmlformats.org/drawingml/2006/main">
              <a:ext uri="{FF2B5EF4-FFF2-40B4-BE49-F238E27FC236}">
                <a16:creationId xmlns:a16="http://schemas.microsoft.com/office/drawing/2014/main" id="{31141DAB-3FD3-4ABA-8901-60DFB1A3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48000"/>
            <a:ext cx="1981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7" name="architecture-chat-text">
            <a:extLst xmlns:a="http://schemas.openxmlformats.org/drawingml/2006/main">
              <a:ext uri="{FF2B5EF4-FFF2-40B4-BE49-F238E27FC236}">
                <a16:creationId xmlns:a16="http://schemas.microsoft.com/office/drawing/2014/main" id="{943B710F-A84D-4CF4-B1C1-D51C033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用户会话 · 接收与沟通</a:t>
            </a:r>
          </a:p>
        </p:txBody>
      </p:sp>
      <p:sp>
        <p:nvSpPr>
          <p:cNvPr id="18" name="architecture-fta">
            <a:extLst xmlns:a="http://schemas.openxmlformats.org/drawingml/2006/main">
              <a:ext uri="{FF2B5EF4-FFF2-40B4-BE49-F238E27FC236}">
                <a16:creationId xmlns:a16="http://schemas.microsoft.com/office/drawing/2014/main" id="{2F9D8FB6-3323-4E7C-948C-24F2DD2B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90925"/>
            <a:ext cx="1981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9" name="architecture-fta-text">
            <a:extLst xmlns:a="http://schemas.openxmlformats.org/drawingml/2006/main">
              <a:ext uri="{FF2B5EF4-FFF2-40B4-BE49-F238E27FC236}">
                <a16:creationId xmlns:a16="http://schemas.microsoft.com/office/drawing/2014/main" id="{AD48DAEA-B056-478A-9F81-B8EADA0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8617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文件传输助手 · 任务入口</a:t>
            </a:r>
          </a:p>
        </p:txBody>
      </p:sp>
      <p:sp>
        <p:nvSpPr>
          <p:cNvPr id="20" name="architecture-agent">
            <a:extLst xmlns:a="http://schemas.openxmlformats.org/drawingml/2006/main">
              <a:ext uri="{FF2B5EF4-FFF2-40B4-BE49-F238E27FC236}">
                <a16:creationId xmlns:a16="http://schemas.microsoft.com/office/drawing/2014/main" id="{B425DA85-CFB8-4C67-9414-2C33C450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3190875" cy="2095500"/>
          </a:xfrm>
          <a:prstGeom xmlns:a="http://schemas.openxmlformats.org/drawingml/2006/main" prst="roundRect">
            <a:avLst>
              <a:gd name="adj" fmla="val 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21" name="architecture-agent-title">
            <a:extLst xmlns:a="http://schemas.openxmlformats.org/drawingml/2006/main">
              <a:ext uri="{FF2B5EF4-FFF2-40B4-BE49-F238E27FC236}">
                <a16:creationId xmlns:a16="http://schemas.microsoft.com/office/drawing/2014/main" id="{3EE3B623-C25F-4EF6-85E0-BE470F20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24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22" name="architecture-agent-item-1">
            <a:extLst xmlns:a="http://schemas.openxmlformats.org/drawingml/2006/main">
              <a:ext uri="{FF2B5EF4-FFF2-40B4-BE49-F238E27FC236}">
                <a16:creationId xmlns:a16="http://schemas.microsoft.com/office/drawing/2014/main" id="{6C7311B4-87A4-4C6B-8226-8F99CF99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813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3" name="architecture-agent-item-text-1">
            <a:extLst xmlns:a="http://schemas.openxmlformats.org/drawingml/2006/main">
              <a:ext uri="{FF2B5EF4-FFF2-40B4-BE49-F238E27FC236}">
                <a16:creationId xmlns:a16="http://schemas.microsoft.com/office/drawing/2014/main" id="{E066244D-3005-45F2-85F1-FF125414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识别投稿任务</a:t>
            </a:r>
          </a:p>
        </p:txBody>
      </p:sp>
      <p:sp>
        <p:nvSpPr>
          <p:cNvPr id="24" name="architecture-agent-item-2">
            <a:extLst xmlns:a="http://schemas.openxmlformats.org/drawingml/2006/main">
              <a:ext uri="{FF2B5EF4-FFF2-40B4-BE49-F238E27FC236}">
                <a16:creationId xmlns:a16="http://schemas.microsoft.com/office/drawing/2014/main" id="{A73FC5BA-5CB0-4EAA-96E4-F4AAF527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242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5" name="architecture-agent-item-text-2">
            <a:extLst xmlns:a="http://schemas.openxmlformats.org/drawingml/2006/main">
              <a:ext uri="{FF2B5EF4-FFF2-40B4-BE49-F238E27FC236}">
                <a16:creationId xmlns:a16="http://schemas.microsoft.com/office/drawing/2014/main" id="{BE8F3468-D54F-468C-8481-5B9C9EAD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81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抓取原文与图片</a:t>
            </a:r>
          </a:p>
        </p:txBody>
      </p:sp>
      <p:sp>
        <p:nvSpPr>
          <p:cNvPr id="26" name="architecture-agent-item-3">
            <a:extLst xmlns:a="http://schemas.openxmlformats.org/drawingml/2006/main">
              <a:ext uri="{FF2B5EF4-FFF2-40B4-BE49-F238E27FC236}">
                <a16:creationId xmlns:a16="http://schemas.microsoft.com/office/drawing/2014/main" id="{75098ABC-6AD2-4144-B554-CEA0B3C5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671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7" name="architecture-agent-item-text-3">
            <a:extLst xmlns:a="http://schemas.openxmlformats.org/drawingml/2006/main">
              <a:ext uri="{FF2B5EF4-FFF2-40B4-BE49-F238E27FC236}">
                <a16:creationId xmlns:a16="http://schemas.microsoft.com/office/drawing/2014/main" id="{F5C36E20-20FB-476C-8E24-7BD65DA0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24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洗稿并生成文章</a:t>
            </a:r>
          </a:p>
        </p:txBody>
      </p:sp>
      <p:sp>
        <p:nvSpPr>
          <p:cNvPr id="28" name="architecture-agent-item-4">
            <a:extLst xmlns:a="http://schemas.openxmlformats.org/drawingml/2006/main">
              <a:ext uri="{FF2B5EF4-FFF2-40B4-BE49-F238E27FC236}">
                <a16:creationId xmlns:a16="http://schemas.microsoft.com/office/drawing/2014/main" id="{8D8829CC-3F64-4193-A602-DA1964F5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10000"/>
            <a:ext cx="27432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1430">
            <a:solidFill>
              <a:srgbClr val="B6D7F5"/>
            </a:solidFill>
            <a:prstDash val="solid"/>
          </a:ln>
        </p:spPr>
      </p:sp>
      <p:sp>
        <p:nvSpPr>
          <p:cNvPr id="29" name="architecture-agent-item-text-4">
            <a:extLst xmlns:a="http://schemas.openxmlformats.org/drawingml/2006/main">
              <a:ext uri="{FF2B5EF4-FFF2-40B4-BE49-F238E27FC236}">
                <a16:creationId xmlns:a16="http://schemas.microsoft.com/office/drawing/2014/main" id="{A3ACBE0D-855D-448F-AC66-0227A17C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671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A0A0A"/>
                </a:solidFill>
                <a:latin typeface="Arial"/>
                <a:ea typeface="Arial"/>
                <a:cs typeface="Arial"/>
              </a:rPr>
              <a:t>按明确授权发布</a:t>
            </a:r>
          </a:p>
        </p:txBody>
      </p:sp>
      <p:sp>
        <p:nvSpPr>
          <p:cNvPr id="30" name="architecture-repository">
            <a:extLst xmlns:a="http://schemas.openxmlformats.org/drawingml/2006/main">
              <a:ext uri="{FF2B5EF4-FFF2-40B4-BE49-F238E27FC236}">
                <a16:creationId xmlns:a16="http://schemas.microsoft.com/office/drawing/2014/main" id="{17F7EF92-AB2E-4A14-B13F-414B5335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33900"/>
            <a:ext cx="6000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CECF5"/>
          </a:solidFill>
          <a:ln xmlns:a="http://schemas.openxmlformats.org/drawingml/2006/main" w="11430">
            <a:solidFill>
              <a:srgbClr val="D9468F"/>
            </a:solidFill>
            <a:prstDash val="solid"/>
          </a:ln>
        </p:spPr>
      </p:sp>
      <p:sp>
        <p:nvSpPr>
          <p:cNvPr id="31" name="architecture-repository-title">
            <a:extLst xmlns:a="http://schemas.openxmlformats.org/drawingml/2006/main">
              <a:ext uri="{FF2B5EF4-FFF2-40B4-BE49-F238E27FC236}">
                <a16:creationId xmlns:a16="http://schemas.microsoft.com/office/drawing/2014/main" id="{0A589A10-AD15-4AC4-AA80-51CE15B2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38675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68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本地任务库</a:t>
            </a:r>
          </a:p>
        </p:txBody>
      </p:sp>
      <p:sp>
        <p:nvSpPr>
          <p:cNvPr id="32" name="architecture-repository-body">
            <a:extLst xmlns:a="http://schemas.openxmlformats.org/drawingml/2006/main">
              <a:ext uri="{FF2B5EF4-FFF2-40B4-BE49-F238E27FC236}">
                <a16:creationId xmlns:a16="http://schemas.microsoft.com/office/drawing/2014/main" id="{C27CA535-2EFC-4B32-A9B0-6953FE9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任务 · 素材 · 洗稿产物 · 发布记录</a:t>
            </a:r>
          </a:p>
        </p:txBody>
      </p:sp>
      <p:sp>
        <p:nvSpPr>
          <p:cNvPr id="33" name="architecture-blog">
            <a:extLst xmlns:a="http://schemas.openxmlformats.org/drawingml/2006/main">
              <a:ext uri="{FF2B5EF4-FFF2-40B4-BE49-F238E27FC236}">
                <a16:creationId xmlns:a16="http://schemas.microsoft.com/office/drawing/2014/main" id="{FAF197F9-7A3F-414F-AEBD-C49DA484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28875"/>
            <a:ext cx="11906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34" name="architecture-blog-text">
            <a:extLst xmlns:a="http://schemas.openxmlformats.org/drawingml/2006/main">
              <a:ext uri="{FF2B5EF4-FFF2-40B4-BE49-F238E27FC236}">
                <a16:creationId xmlns:a16="http://schemas.microsoft.com/office/drawing/2014/main" id="{2105F0C7-9792-46EE-888D-5371710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8194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41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Blog</a:t>
            </a:r>
          </a:p>
        </p:txBody>
      </p:sp>
      <p:sp>
        <p:nvSpPr>
          <p:cNvPr id="35" name="architecture-pull-label">
            <a:extLst xmlns:a="http://schemas.openxmlformats.org/drawingml/2006/main">
              <a:ext uri="{FF2B5EF4-FFF2-40B4-BE49-F238E27FC236}">
                <a16:creationId xmlns:a16="http://schemas.microsoft.com/office/drawing/2014/main" id="{C617C329-D428-43C9-A171-2DC341D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099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 主动抓取</a:t>
            </a:r>
          </a:p>
        </p:txBody>
      </p:sp>
      <p:sp>
        <p:nvSpPr>
          <p:cNvPr id="36" name="architecture-publish-label">
            <a:extLst xmlns:a="http://schemas.openxmlformats.org/drawingml/2006/main">
              <a:ext uri="{FF2B5EF4-FFF2-40B4-BE49-F238E27FC236}">
                <a16:creationId xmlns:a16="http://schemas.microsoft.com/office/drawing/2014/main" id="{D611871B-145B-464B-A339-14391FA6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813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发布</a:t>
            </a:r>
          </a:p>
        </p:txBody>
      </p:sp>
      <p:sp>
        <p:nvSpPr>
          <p:cNvPr id="37" name="architecture-bottom-line">
            <a:extLst xmlns:a="http://schemas.openxmlformats.org/drawingml/2006/main">
              <a:ext uri="{FF2B5EF4-FFF2-40B4-BE49-F238E27FC236}">
                <a16:creationId xmlns:a16="http://schemas.microsoft.com/office/drawing/2014/main" id="{C77D409A-0E61-4BF1-900B-8BF6A534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505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统一入口  ·  主动处理  ·  明确授权  ·  全程留档</a:t>
            </a:r>
          </a:p>
        </p:txBody>
      </p:sp>
    </p:spTree>
    <p:extLst>
      <p:ext uri="{BB962C8B-B14F-4D97-AF65-F5344CB8AC3E}">
        <p14:creationId xmlns:p14="http://schemas.microsoft.com/office/powerpoint/2010/main" val="1205491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6-kicker">
            <a:extLst xmlns:a="http://schemas.openxmlformats.org/drawingml/2006/main">
              <a:ext uri="{FF2B5EF4-FFF2-40B4-BE49-F238E27FC236}">
                <a16:creationId xmlns:a16="http://schemas.microsoft.com/office/drawing/2014/main" id="{099E5845-6357-4A25-91FB-548F4F92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25E484C-E091-4DE7-80EB-E3FB5C4B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 承担五项业务动作，替代重复且易错的手工串联</a:t>
            </a:r>
          </a:p>
        </p:txBody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0ADF7A94-0E15-4E59-A1EF-063701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agent-flow-line">
            <a:extLst xmlns:a="http://schemas.openxmlformats.org/drawingml/2006/main">
              <a:ext uri="{FF2B5EF4-FFF2-40B4-BE49-F238E27FC236}">
                <a16:creationId xmlns:a16="http://schemas.microsoft.com/office/drawing/2014/main" id="{83C1469D-70CF-4DAA-A0D1-4B0A0E8B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95650"/>
            <a:ext cx="10334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5" name="agent-step-dot-1">
            <a:extLst xmlns:a="http://schemas.openxmlformats.org/drawingml/2006/main">
              <a:ext uri="{FF2B5EF4-FFF2-40B4-BE49-F238E27FC236}">
                <a16:creationId xmlns:a16="http://schemas.microsoft.com/office/drawing/2014/main" id="{2E50703A-185B-4BC3-BA48-D6B6B3F2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t-step-index-1">
            <a:extLst xmlns:a="http://schemas.openxmlformats.org/drawingml/2006/main">
              <a:ext uri="{FF2B5EF4-FFF2-40B4-BE49-F238E27FC236}">
                <a16:creationId xmlns:a16="http://schemas.microsoft.com/office/drawing/2014/main" id="{799E0F63-D12A-4DB7-933C-07467BB7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agent-step-title-1">
            <a:extLst xmlns:a="http://schemas.openxmlformats.org/drawingml/2006/main">
              <a:ext uri="{FF2B5EF4-FFF2-40B4-BE49-F238E27FC236}">
                <a16:creationId xmlns:a16="http://schemas.microsoft.com/office/drawing/2014/main" id="{0A7066DB-C647-4902-8BB0-92BEBA0B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识别任务</a:t>
            </a:r>
          </a:p>
        </p:txBody>
      </p:sp>
      <p:sp>
        <p:nvSpPr>
          <p:cNvPr id="8" name="agent-step-body-1">
            <a:extLst xmlns:a="http://schemas.openxmlformats.org/drawingml/2006/main">
              <a:ext uri="{FF2B5EF4-FFF2-40B4-BE49-F238E27FC236}">
                <a16:creationId xmlns:a16="http://schemas.microsoft.com/office/drawing/2014/main" id="{F226B3C2-2FB4-4B5D-A4DF-3882615F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从文件传输助手中识别投稿指令与 Source</a:t>
            </a:r>
          </a:p>
        </p:txBody>
      </p:sp>
      <p:sp>
        <p:nvSpPr>
          <p:cNvPr id="9" name="agent-step-dot-2">
            <a:extLst xmlns:a="http://schemas.openxmlformats.org/drawingml/2006/main">
              <a:ext uri="{FF2B5EF4-FFF2-40B4-BE49-F238E27FC236}">
                <a16:creationId xmlns:a16="http://schemas.microsoft.com/office/drawing/2014/main" id="{06442C05-E77D-4EA6-BA87-901CE883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t-step-index-2">
            <a:extLst xmlns:a="http://schemas.openxmlformats.org/drawingml/2006/main">
              <a:ext uri="{FF2B5EF4-FFF2-40B4-BE49-F238E27FC236}">
                <a16:creationId xmlns:a16="http://schemas.microsoft.com/office/drawing/2014/main" id="{FAD6D38F-2C57-4D63-ACF8-0D4BB9C2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agent-step-title-2">
            <a:extLst xmlns:a="http://schemas.openxmlformats.org/drawingml/2006/main">
              <a:ext uri="{FF2B5EF4-FFF2-40B4-BE49-F238E27FC236}">
                <a16:creationId xmlns:a16="http://schemas.microsoft.com/office/drawing/2014/main" id="{30426AFF-389E-4064-AAC6-DCC4AFCF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抓取内容</a:t>
            </a:r>
          </a:p>
        </p:txBody>
      </p:sp>
      <p:sp>
        <p:nvSpPr>
          <p:cNvPr id="12" name="agent-step-body-2">
            <a:extLst xmlns:a="http://schemas.openxmlformats.org/drawingml/2006/main">
              <a:ext uri="{FF2B5EF4-FFF2-40B4-BE49-F238E27FC236}">
                <a16:creationId xmlns:a16="http://schemas.microsoft.com/office/drawing/2014/main" id="{84772619-0A23-4C83-9B3E-3AADAD27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获取正文、图片及来源信息</a:t>
            </a:r>
          </a:p>
        </p:txBody>
      </p:sp>
      <p:sp>
        <p:nvSpPr>
          <p:cNvPr id="13" name="agent-step-dot-3">
            <a:extLst xmlns:a="http://schemas.openxmlformats.org/drawingml/2006/main">
              <a:ext uri="{FF2B5EF4-FFF2-40B4-BE49-F238E27FC236}">
                <a16:creationId xmlns:a16="http://schemas.microsoft.com/office/drawing/2014/main" id="{6494A82A-48D9-46CC-A91B-822E580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t-step-index-3">
            <a:extLst xmlns:a="http://schemas.openxmlformats.org/drawingml/2006/main">
              <a:ext uri="{FF2B5EF4-FFF2-40B4-BE49-F238E27FC236}">
                <a16:creationId xmlns:a16="http://schemas.microsoft.com/office/drawing/2014/main" id="{0518679F-8C0A-4268-895F-564DAE2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agent-step-title-3">
            <a:extLst xmlns:a="http://schemas.openxmlformats.org/drawingml/2006/main">
              <a:ext uri="{FF2B5EF4-FFF2-40B4-BE49-F238E27FC236}">
                <a16:creationId xmlns:a16="http://schemas.microsoft.com/office/drawing/2014/main" id="{0D9304E2-2DEF-4043-9B1B-65D835F0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洗稿</a:t>
            </a:r>
          </a:p>
        </p:txBody>
      </p:sp>
      <p:sp>
        <p:nvSpPr>
          <p:cNvPr id="16" name="agent-step-body-3">
            <a:extLst xmlns:a="http://schemas.openxmlformats.org/drawingml/2006/main">
              <a:ext uri="{FF2B5EF4-FFF2-40B4-BE49-F238E27FC236}">
                <a16:creationId xmlns:a16="http://schemas.microsoft.com/office/drawing/2014/main" id="{F454D4B0-E25B-4567-AE91-AF3C151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按任务指令或默认规则生成文章</a:t>
            </a:r>
          </a:p>
        </p:txBody>
      </p:sp>
      <p:sp>
        <p:nvSpPr>
          <p:cNvPr id="17" name="agent-step-dot-4">
            <a:extLst xmlns:a="http://schemas.openxmlformats.org/drawingml/2006/main">
              <a:ext uri="{FF2B5EF4-FFF2-40B4-BE49-F238E27FC236}">
                <a16:creationId xmlns:a16="http://schemas.microsoft.com/office/drawing/2014/main" id="{0C24B635-0D12-4604-84E8-5D593F01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gent-step-index-4">
            <a:extLst xmlns:a="http://schemas.openxmlformats.org/drawingml/2006/main">
              <a:ext uri="{FF2B5EF4-FFF2-40B4-BE49-F238E27FC236}">
                <a16:creationId xmlns:a16="http://schemas.microsoft.com/office/drawing/2014/main" id="{40673C73-1CE4-4258-9655-F8C0F0D2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agent-step-title-4">
            <a:extLst xmlns:a="http://schemas.openxmlformats.org/drawingml/2006/main">
              <a:ext uri="{FF2B5EF4-FFF2-40B4-BE49-F238E27FC236}">
                <a16:creationId xmlns:a16="http://schemas.microsoft.com/office/drawing/2014/main" id="{22C49FAF-7C78-4226-83A3-B81561FB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本地留档</a:t>
            </a:r>
          </a:p>
        </p:txBody>
      </p:sp>
      <p:sp>
        <p:nvSpPr>
          <p:cNvPr id="20" name="agent-step-body-4">
            <a:extLst xmlns:a="http://schemas.openxmlformats.org/drawingml/2006/main">
              <a:ext uri="{FF2B5EF4-FFF2-40B4-BE49-F238E27FC236}">
                <a16:creationId xmlns:a16="http://schemas.microsoft.com/office/drawing/2014/main" id="{286370C9-8B92-474C-B578-4D0169F0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持续记录任务、素材、产物与状态</a:t>
            </a:r>
          </a:p>
        </p:txBody>
      </p:sp>
      <p:sp>
        <p:nvSpPr>
          <p:cNvPr id="21" name="agent-step-dot-5">
            <a:extLst xmlns:a="http://schemas.openxmlformats.org/drawingml/2006/main">
              <a:ext uri="{FF2B5EF4-FFF2-40B4-BE49-F238E27FC236}">
                <a16:creationId xmlns:a16="http://schemas.microsoft.com/office/drawing/2014/main" id="{E8B6E026-3516-41C0-8C1A-D7ADE285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43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gent-step-index-5">
            <a:extLst xmlns:a="http://schemas.openxmlformats.org/drawingml/2006/main">
              <a:ext uri="{FF2B5EF4-FFF2-40B4-BE49-F238E27FC236}">
                <a16:creationId xmlns:a16="http://schemas.microsoft.com/office/drawing/2014/main" id="{B3FB51CA-E382-44D6-A7D1-CFBC1293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20040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agent-step-title-5">
            <a:extLst xmlns:a="http://schemas.openxmlformats.org/drawingml/2006/main">
              <a:ext uri="{FF2B5EF4-FFF2-40B4-BE49-F238E27FC236}">
                <a16:creationId xmlns:a16="http://schemas.microsoft.com/office/drawing/2014/main" id="{362405FD-9EDB-451F-A198-84DDE054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7338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</a:t>
            </a:r>
          </a:p>
        </p:txBody>
      </p:sp>
      <p:sp>
        <p:nvSpPr>
          <p:cNvPr id="24" name="agent-step-body-5">
            <a:extLst xmlns:a="http://schemas.openxmlformats.org/drawingml/2006/main">
              <a:ext uri="{FF2B5EF4-FFF2-40B4-BE49-F238E27FC236}">
                <a16:creationId xmlns:a16="http://schemas.microsoft.com/office/drawing/2014/main" id="{66E75777-8678-4BEC-B984-10570DD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238625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仅在明确授权后提交 Blog</a:t>
            </a:r>
          </a:p>
        </p:txBody>
      </p:sp>
      <p:sp>
        <p:nvSpPr>
          <p:cNvPr id="25" name="agent-flow-callout">
            <a:extLst xmlns:a="http://schemas.openxmlformats.org/drawingml/2006/main">
              <a:ext uri="{FF2B5EF4-FFF2-40B4-BE49-F238E27FC236}">
                <a16:creationId xmlns:a16="http://schemas.microsoft.com/office/drawing/2014/main" id="{477E775E-BDD4-4CBD-A4BA-5795CABC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发布不是默认动作，而是独立的管理授权。</a:t>
            </a:r>
          </a:p>
        </p:txBody>
      </p:sp>
    </p:spTree>
    <p:extLst>
      <p:ext uri="{BB962C8B-B14F-4D97-AF65-F5344CB8AC3E}">
        <p14:creationId xmlns:p14="http://schemas.microsoft.com/office/powerpoint/2010/main" val="1977295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7-kicker">
            <a:extLst xmlns:a="http://schemas.openxmlformats.org/drawingml/2006/main">
              <a:ext uri="{FF2B5EF4-FFF2-40B4-BE49-F238E27FC236}">
                <a16:creationId xmlns:a16="http://schemas.microsoft.com/office/drawing/2014/main" id="{FA4FF531-9CD3-4943-8BA8-FAB6BF1D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3DE0D03-DC1B-4808-8522-6804A918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价值不在“更快写稿”，而在把内容运营变成组织能力</a:t>
            </a:r>
          </a:p>
        </p:txBody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10A2DDC4-C4CF-4F5E-977C-CBD00216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oint-1-num">
            <a:extLst xmlns:a="http://schemas.openxmlformats.org/drawingml/2006/main">
              <a:ext uri="{FF2B5EF4-FFF2-40B4-BE49-F238E27FC236}">
                <a16:creationId xmlns:a16="http://schemas.microsoft.com/office/drawing/2014/main" id="{CC60D104-7A1E-4AE3-9DA6-CD7DAD9E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A8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A8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point-1-rule">
            <a:extLst xmlns:a="http://schemas.openxmlformats.org/drawingml/2006/main">
              <a:ext uri="{FF2B5EF4-FFF2-40B4-BE49-F238E27FC236}">
                <a16:creationId xmlns:a16="http://schemas.microsoft.com/office/drawing/2014/main" id="{B7F81A86-2ED2-42CB-8E6B-5358E3B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point-1-title">
            <a:extLst xmlns:a="http://schemas.openxmlformats.org/drawingml/2006/main">
              <a:ext uri="{FF2B5EF4-FFF2-40B4-BE49-F238E27FC236}">
                <a16:creationId xmlns:a16="http://schemas.microsoft.com/office/drawing/2014/main" id="{70F7CA7B-76D1-48CC-8A3F-C7CE11B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统一入口</a:t>
            </a:r>
          </a:p>
        </p:txBody>
      </p:sp>
      <p:sp>
        <p:nvSpPr>
          <p:cNvPr id="7" name="point-1-body">
            <a:extLst xmlns:a="http://schemas.openxmlformats.org/drawingml/2006/main">
              <a:ext uri="{FF2B5EF4-FFF2-40B4-BE49-F238E27FC236}">
                <a16:creationId xmlns:a16="http://schemas.microsoft.com/office/drawing/2014/main" id="{CAB058B1-9315-4C94-901D-18DCF110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81325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员工继续使用熟悉的微信环境，投稿需求集中进入同一条处理链路。</a:t>
            </a:r>
          </a:p>
        </p:txBody>
      </p:sp>
      <p:sp>
        <p:nvSpPr>
          <p:cNvPr id="8" name="point-2-num">
            <a:extLst xmlns:a="http://schemas.openxmlformats.org/drawingml/2006/main">
              <a:ext uri="{FF2B5EF4-FFF2-40B4-BE49-F238E27FC236}">
                <a16:creationId xmlns:a16="http://schemas.microsoft.com/office/drawing/2014/main" id="{118A57BA-9DCC-46F8-A506-80BBC343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oint-2-rule">
            <a:extLst xmlns:a="http://schemas.openxmlformats.org/drawingml/2006/main">
              <a:ext uri="{FF2B5EF4-FFF2-40B4-BE49-F238E27FC236}">
                <a16:creationId xmlns:a16="http://schemas.microsoft.com/office/drawing/2014/main" id="{EED9CCFD-F17C-48C8-8074-49928126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145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oint-2-title">
            <a:extLst xmlns:a="http://schemas.openxmlformats.org/drawingml/2006/main">
              <a:ext uri="{FF2B5EF4-FFF2-40B4-BE49-F238E27FC236}">
                <a16:creationId xmlns:a16="http://schemas.microsoft.com/office/drawing/2014/main" id="{542BDD1A-089B-4CE4-80EA-3222A82C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86025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标准处理</a:t>
            </a:r>
          </a:p>
        </p:txBody>
      </p:sp>
      <p:sp>
        <p:nvSpPr>
          <p:cNvPr id="11" name="point-2-body">
            <a:extLst xmlns:a="http://schemas.openxmlformats.org/drawingml/2006/main">
              <a:ext uri="{FF2B5EF4-FFF2-40B4-BE49-F238E27FC236}">
                <a16:creationId xmlns:a16="http://schemas.microsoft.com/office/drawing/2014/main" id="{851ADEBB-DCCF-4DC2-9414-CEEBD175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每条投稿都经历任务识别、内容抓取、洗稿与结果确认。</a:t>
            </a:r>
          </a:p>
        </p:txBody>
      </p:sp>
      <p:sp>
        <p:nvSpPr>
          <p:cNvPr id="12" name="point-3-num">
            <a:extLst xmlns:a="http://schemas.openxmlformats.org/drawingml/2006/main">
              <a:ext uri="{FF2B5EF4-FFF2-40B4-BE49-F238E27FC236}">
                <a16:creationId xmlns:a16="http://schemas.microsoft.com/office/drawing/2014/main" id="{E0F65A2D-597D-4CFB-BABB-AE5658D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46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46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point-3-rule">
            <a:extLst xmlns:a="http://schemas.openxmlformats.org/drawingml/2006/main">
              <a:ext uri="{FF2B5EF4-FFF2-40B4-BE49-F238E27FC236}">
                <a16:creationId xmlns:a16="http://schemas.microsoft.com/office/drawing/2014/main" id="{8652BDEA-A3A6-4594-96DE-EB5548A1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oint-3-title">
            <a:extLst xmlns:a="http://schemas.openxmlformats.org/drawingml/2006/main">
              <a:ext uri="{FF2B5EF4-FFF2-40B4-BE49-F238E27FC236}">
                <a16:creationId xmlns:a16="http://schemas.microsoft.com/office/drawing/2014/main" id="{6DDFC98E-E745-49EE-B685-C076597D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2440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可追溯</a:t>
            </a:r>
          </a:p>
        </p:txBody>
      </p:sp>
      <p:sp>
        <p:nvSpPr>
          <p:cNvPr id="15" name="point-3-body">
            <a:extLst xmlns:a="http://schemas.openxmlformats.org/drawingml/2006/main">
              <a:ext uri="{FF2B5EF4-FFF2-40B4-BE49-F238E27FC236}">
                <a16:creationId xmlns:a16="http://schemas.microsoft.com/office/drawing/2014/main" id="{8B711DDC-727C-4847-962E-4182FBD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任务、素材、产物和发布结果形成连续档案，便于复盘与交接。</a:t>
            </a:r>
          </a:p>
        </p:txBody>
      </p:sp>
      <p:sp>
        <p:nvSpPr>
          <p:cNvPr id="16" name="point-4-num">
            <a:extLst xmlns:a="http://schemas.openxmlformats.org/drawingml/2006/main">
              <a:ext uri="{FF2B5EF4-FFF2-40B4-BE49-F238E27FC236}">
                <a16:creationId xmlns:a16="http://schemas.microsoft.com/office/drawing/2014/main" id="{F7835D0A-B2D3-4745-9CFF-ACE4ACD9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5C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5CF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point-4-rule">
            <a:extLst xmlns:a="http://schemas.openxmlformats.org/drawingml/2006/main">
              <a:ext uri="{FF2B5EF4-FFF2-40B4-BE49-F238E27FC236}">
                <a16:creationId xmlns:a16="http://schemas.microsoft.com/office/drawing/2014/main" id="{0E0834DC-EBED-4853-B77E-D277F7A9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52950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point-4-title">
            <a:extLst xmlns:a="http://schemas.openxmlformats.org/drawingml/2006/main">
              <a:ext uri="{FF2B5EF4-FFF2-40B4-BE49-F238E27FC236}">
                <a16:creationId xmlns:a16="http://schemas.microsoft.com/office/drawing/2014/main" id="{5511E4DA-2D50-4BFE-9718-537AB106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24400"/>
            <a:ext cx="519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可控发布</a:t>
            </a:r>
          </a:p>
        </p:txBody>
      </p:sp>
      <p:sp>
        <p:nvSpPr>
          <p:cNvPr id="19" name="point-4-body">
            <a:extLst xmlns:a="http://schemas.openxmlformats.org/drawingml/2006/main">
              <a:ext uri="{FF2B5EF4-FFF2-40B4-BE49-F238E27FC236}">
                <a16:creationId xmlns:a16="http://schemas.microsoft.com/office/drawing/2014/main" id="{48FB8EDE-2980-4C74-AF82-77689DC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19700"/>
            <a:ext cx="5191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自动化负责执行，管理者保留是否公开发布的最终决定。</a:t>
            </a:r>
          </a:p>
        </p:txBody>
      </p:sp>
    </p:spTree>
    <p:extLst>
      <p:ext uri="{BB962C8B-B14F-4D97-AF65-F5344CB8AC3E}">
        <p14:creationId xmlns:p14="http://schemas.microsoft.com/office/powerpoint/2010/main" val="4511175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8-kicker">
            <a:extLst xmlns:a="http://schemas.openxmlformats.org/drawingml/2006/main">
              <a:ext uri="{FF2B5EF4-FFF2-40B4-BE49-F238E27FC236}">
                <a16:creationId xmlns:a16="http://schemas.microsoft.com/office/drawing/2014/main" id="{7D02D155-EC2C-45D6-B5B9-23E15BE1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0E90658C-E3E2-42D8-A2FD-4B6C92DD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自动化越深入，越需要把权限与责任留在人手里</a:t>
            </a:r>
          </a:p>
        </p:txBody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8A315F1D-6B7C-44E9-95A9-DAE8C72E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governance-claim">
            <a:extLst xmlns:a="http://schemas.openxmlformats.org/drawingml/2006/main">
              <a:ext uri="{FF2B5EF4-FFF2-40B4-BE49-F238E27FC236}">
                <a16:creationId xmlns:a16="http://schemas.microsoft.com/office/drawing/2014/main" id="{83DFA193-B1EB-4332-96AD-E1300700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61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6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Agent 可以连续执行，但不能自行扩大任务范围或发布权限。</a:t>
            </a:r>
          </a:p>
        </p:txBody>
      </p:sp>
      <p:sp>
        <p:nvSpPr>
          <p:cNvPr id="5" name="governance-explainer">
            <a:extLst xmlns:a="http://schemas.openxmlformats.org/drawingml/2006/main">
              <a:ext uri="{FF2B5EF4-FFF2-40B4-BE49-F238E27FC236}">
                <a16:creationId xmlns:a16="http://schemas.microsoft.com/office/drawing/2014/main" id="{C6559908-722D-4173-8D86-425009D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秘书处的核心不是“无人值守”，而是让人工判断发生在正确的节点。</a:t>
            </a:r>
          </a:p>
        </p:txBody>
      </p:sp>
      <p:sp>
        <p:nvSpPr>
          <p:cNvPr id="6" name="governance-check-1">
            <a:extLst xmlns:a="http://schemas.openxmlformats.org/drawingml/2006/main">
              <a:ext uri="{FF2B5EF4-FFF2-40B4-BE49-F238E27FC236}">
                <a16:creationId xmlns:a16="http://schemas.microsoft.com/office/drawing/2014/main" id="{78F21509-647B-4513-BE35-7F732648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overnance-checkmark-1">
            <a:extLst xmlns:a="http://schemas.openxmlformats.org/drawingml/2006/main">
              <a:ext uri="{FF2B5EF4-FFF2-40B4-BE49-F238E27FC236}">
                <a16:creationId xmlns:a16="http://schemas.microsoft.com/office/drawing/2014/main" id="{0C078DE4-CF32-45D4-9237-25B79D96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8288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governance-title-1">
            <a:extLst xmlns:a="http://schemas.openxmlformats.org/drawingml/2006/main">
              <a:ext uri="{FF2B5EF4-FFF2-40B4-BE49-F238E27FC236}">
                <a16:creationId xmlns:a16="http://schemas.microsoft.com/office/drawing/2014/main" id="{0DE26889-30A4-4F99-A0EB-010E57C4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621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发布默认关闭</a:t>
            </a:r>
          </a:p>
        </p:txBody>
      </p:sp>
      <p:sp>
        <p:nvSpPr>
          <p:cNvPr id="9" name="governance-body-1">
            <a:extLst xmlns:a="http://schemas.openxmlformats.org/drawingml/2006/main">
              <a:ext uri="{FF2B5EF4-FFF2-40B4-BE49-F238E27FC236}">
                <a16:creationId xmlns:a16="http://schemas.microsoft.com/office/drawing/2014/main" id="{2620ED30-80C6-4324-A030-42D8A344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没有明确授权，就不调用 Blog。</a:t>
            </a:r>
          </a:p>
        </p:txBody>
      </p:sp>
      <p:sp>
        <p:nvSpPr>
          <p:cNvPr id="10" name="governance-check-2">
            <a:extLst xmlns:a="http://schemas.openxmlformats.org/drawingml/2006/main">
              <a:ext uri="{FF2B5EF4-FFF2-40B4-BE49-F238E27FC236}">
                <a16:creationId xmlns:a16="http://schemas.microsoft.com/office/drawing/2014/main" id="{0AB7FAF9-210B-464E-AECF-78C1E269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overnance-checkmark-2">
            <a:extLst xmlns:a="http://schemas.openxmlformats.org/drawingml/2006/main">
              <a:ext uri="{FF2B5EF4-FFF2-40B4-BE49-F238E27FC236}">
                <a16:creationId xmlns:a16="http://schemas.microsoft.com/office/drawing/2014/main" id="{CF119F75-2682-4490-96D9-4516442C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8003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governance-title-2">
            <a:extLst xmlns:a="http://schemas.openxmlformats.org/drawingml/2006/main">
              <a:ext uri="{FF2B5EF4-FFF2-40B4-BE49-F238E27FC236}">
                <a16:creationId xmlns:a16="http://schemas.microsoft.com/office/drawing/2014/main" id="{90700121-216B-44E9-B8F6-8F8B0067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7336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处理与发布分离</a:t>
            </a:r>
          </a:p>
        </p:txBody>
      </p:sp>
      <p:sp>
        <p:nvSpPr>
          <p:cNvPr id="13" name="governance-body-2">
            <a:extLst xmlns:a="http://schemas.openxmlformats.org/drawingml/2006/main">
              <a:ext uri="{FF2B5EF4-FFF2-40B4-BE49-F238E27FC236}">
                <a16:creationId xmlns:a16="http://schemas.microsoft.com/office/drawing/2014/main" id="{4F5D9FCF-5A2F-4FBB-A753-F30F602F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146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洗稿完成不代表必须公开。</a:t>
            </a:r>
          </a:p>
        </p:txBody>
      </p:sp>
      <p:sp>
        <p:nvSpPr>
          <p:cNvPr id="14" name="governance-check-3">
            <a:extLst xmlns:a="http://schemas.openxmlformats.org/drawingml/2006/main">
              <a:ext uri="{FF2B5EF4-FFF2-40B4-BE49-F238E27FC236}">
                <a16:creationId xmlns:a16="http://schemas.microsoft.com/office/drawing/2014/main" id="{A26D9282-6AF6-49BA-899A-86761A7E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overnance-checkmark-3">
            <a:extLst xmlns:a="http://schemas.openxmlformats.org/drawingml/2006/main">
              <a:ext uri="{FF2B5EF4-FFF2-40B4-BE49-F238E27FC236}">
                <a16:creationId xmlns:a16="http://schemas.microsoft.com/office/drawing/2014/main" id="{F01D2105-8D4A-4A98-AA6A-DC3BB53A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719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governance-title-3">
            <a:extLst xmlns:a="http://schemas.openxmlformats.org/drawingml/2006/main">
              <a:ext uri="{FF2B5EF4-FFF2-40B4-BE49-F238E27FC236}">
                <a16:creationId xmlns:a16="http://schemas.microsoft.com/office/drawing/2014/main" id="{4D575444-4306-43C3-BE3D-989E48C7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不完整任务不猜测</a:t>
            </a:r>
          </a:p>
        </p:txBody>
      </p:sp>
      <p:sp>
        <p:nvSpPr>
          <p:cNvPr id="17" name="governance-body-3">
            <a:extLst xmlns:a="http://schemas.openxmlformats.org/drawingml/2006/main">
              <a:ext uri="{FF2B5EF4-FFF2-40B4-BE49-F238E27FC236}">
                <a16:creationId xmlns:a16="http://schemas.microsoft.com/office/drawing/2014/main" id="{AC6FB3F4-2AFE-4348-945D-D012CAF3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86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缺少关键信息时，回到人工补充。</a:t>
            </a:r>
          </a:p>
        </p:txBody>
      </p:sp>
      <p:sp>
        <p:nvSpPr>
          <p:cNvPr id="18" name="governance-check-4">
            <a:extLst xmlns:a="http://schemas.openxmlformats.org/drawingml/2006/main">
              <a:ext uri="{FF2B5EF4-FFF2-40B4-BE49-F238E27FC236}">
                <a16:creationId xmlns:a16="http://schemas.microsoft.com/office/drawing/2014/main" id="{4344341D-502A-4625-ABAF-02D0EA51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overnance-checkmark-4">
            <a:extLst xmlns:a="http://schemas.openxmlformats.org/drawingml/2006/main">
              <a:ext uri="{FF2B5EF4-FFF2-40B4-BE49-F238E27FC236}">
                <a16:creationId xmlns:a16="http://schemas.microsoft.com/office/drawing/2014/main" id="{8EC7200F-8F10-4658-BED4-BF3F98F2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7434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governance-title-4">
            <a:extLst xmlns:a="http://schemas.openxmlformats.org/drawingml/2006/main">
              <a:ext uri="{FF2B5EF4-FFF2-40B4-BE49-F238E27FC236}">
                <a16:creationId xmlns:a16="http://schemas.microsoft.com/office/drawing/2014/main" id="{C9F265D0-D698-4A0D-A2AD-0803B02D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76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中断可恢复</a:t>
            </a:r>
          </a:p>
        </p:txBody>
      </p:sp>
      <p:sp>
        <p:nvSpPr>
          <p:cNvPr id="21" name="governance-body-4">
            <a:extLst xmlns:a="http://schemas.openxmlformats.org/drawingml/2006/main">
              <a:ext uri="{FF2B5EF4-FFF2-40B4-BE49-F238E27FC236}">
                <a16:creationId xmlns:a16="http://schemas.microsoft.com/office/drawing/2014/main" id="{0F9FD6DC-295B-4704-9DF2-4FEE6E9C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577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历史记录保留，避免盲目重复执行。</a:t>
            </a:r>
          </a:p>
        </p:txBody>
      </p:sp>
      <p:sp>
        <p:nvSpPr>
          <p:cNvPr id="22" name="governance-divider">
            <a:extLst xmlns:a="http://schemas.openxmlformats.org/drawingml/2006/main">
              <a:ext uri="{FF2B5EF4-FFF2-40B4-BE49-F238E27FC236}">
                <a16:creationId xmlns:a16="http://schemas.microsoft.com/office/drawing/2014/main" id="{8C0E806A-8700-4FBF-8154-63D5A0E2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66875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6948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9-kicker">
            <a:extLst xmlns:a="http://schemas.openxmlformats.org/drawingml/2006/main">
              <a:ext uri="{FF2B5EF4-FFF2-40B4-BE49-F238E27FC236}">
                <a16:creationId xmlns:a16="http://schemas.microsoft.com/office/drawing/2014/main" id="{402E4007-D3C3-4DCA-8580-5CF760C8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0F2F433-4158-4709-AF37-88B5A97E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核心链路已经跑通，但项目仍处于受控验证阶段</a:t>
            </a:r>
          </a:p>
        </p:txBody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7896EA02-6761-44F4-A528-9F3DF4F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progress-verified-area">
            <a:extLst xmlns:a="http://schemas.openxmlformats.org/drawingml/2006/main">
              <a:ext uri="{FF2B5EF4-FFF2-40B4-BE49-F238E27FC236}">
                <a16:creationId xmlns:a16="http://schemas.microsoft.com/office/drawing/2014/main" id="{4B142124-D567-4EDA-932F-381E9571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2387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11430">
            <a:solidFill>
              <a:srgbClr val="8BCBB7"/>
            </a:solidFill>
            <a:prstDash val="solid"/>
          </a:ln>
        </p:spPr>
      </p:sp>
      <p:sp>
        <p:nvSpPr>
          <p:cNvPr id="5" name="progress-verified-title">
            <a:extLst xmlns:a="http://schemas.openxmlformats.org/drawingml/2006/main">
              <a:ext uri="{FF2B5EF4-FFF2-40B4-BE49-F238E27FC236}">
                <a16:creationId xmlns:a16="http://schemas.microsoft.com/office/drawing/2014/main" id="{017FD23D-C985-4455-ACCE-3BAD241E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8C6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18C6B"/>
                </a:solidFill>
                <a:latin typeface="Arial"/>
                <a:ea typeface="Arial"/>
                <a:cs typeface="Arial"/>
              </a:rPr>
              <a:t>已验证</a:t>
            </a:r>
          </a:p>
        </p:txBody>
      </p:sp>
      <p:sp>
        <p:nvSpPr>
          <p:cNvPr id="6" name="verified-item-1">
            <a:extLst xmlns:a="http://schemas.openxmlformats.org/drawingml/2006/main">
              <a:ext uri="{FF2B5EF4-FFF2-40B4-BE49-F238E27FC236}">
                <a16:creationId xmlns:a16="http://schemas.microsoft.com/office/drawing/2014/main" id="{7ACA37B2-6B18-44D6-B179-D755A844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真实微信文章完整抓取</a:t>
            </a:r>
          </a:p>
        </p:txBody>
      </p:sp>
      <p:sp>
        <p:nvSpPr>
          <p:cNvPr id="7" name="verified-item-2">
            <a:extLst xmlns:a="http://schemas.openxmlformats.org/drawingml/2006/main">
              <a:ext uri="{FF2B5EF4-FFF2-40B4-BE49-F238E27FC236}">
                <a16:creationId xmlns:a16="http://schemas.microsoft.com/office/drawing/2014/main" id="{C02B3C21-F2FB-478F-BB5A-8CDA3C4B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 Agent 洗稿并生成产物</a:t>
            </a:r>
          </a:p>
        </p:txBody>
      </p:sp>
      <p:sp>
        <p:nvSpPr>
          <p:cNvPr id="8" name="verified-item-3">
            <a:extLst xmlns:a="http://schemas.openxmlformats.org/drawingml/2006/main">
              <a:ext uri="{FF2B5EF4-FFF2-40B4-BE49-F238E27FC236}">
                <a16:creationId xmlns:a16="http://schemas.microsoft.com/office/drawing/2014/main" id="{3CC7409C-C6B0-4975-8E68-1E614EF5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✓  真实 Blog 自动发布并返回可访问地址</a:t>
            </a:r>
          </a:p>
        </p:txBody>
      </p:sp>
      <p:sp>
        <p:nvSpPr>
          <p:cNvPr id="9" name="progress-remaining-area">
            <a:extLst xmlns:a="http://schemas.openxmlformats.org/drawingml/2006/main">
              <a:ext uri="{FF2B5EF4-FFF2-40B4-BE49-F238E27FC236}">
                <a16:creationId xmlns:a16="http://schemas.microsoft.com/office/drawing/2014/main" id="{14E6609B-2EE4-479C-947B-22042B17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56959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11430">
            <a:solidFill>
              <a:srgbClr val="E7C08C"/>
            </a:solidFill>
            <a:prstDash val="solid"/>
          </a:ln>
        </p:spPr>
      </p:sp>
      <p:sp>
        <p:nvSpPr>
          <p:cNvPr id="10" name="progress-remaining-title">
            <a:extLst xmlns:a="http://schemas.openxmlformats.org/drawingml/2006/main">
              <a:ext uri="{FF2B5EF4-FFF2-40B4-BE49-F238E27FC236}">
                <a16:creationId xmlns:a16="http://schemas.microsoft.com/office/drawing/2014/main" id="{075131D0-D098-4373-B80D-5907F9AC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25A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25A00"/>
                </a:solidFill>
                <a:latin typeface="Arial"/>
                <a:ea typeface="Arial"/>
                <a:cs typeface="Arial"/>
              </a:rPr>
              <a:t>正式上线前仍需完成</a:t>
            </a:r>
          </a:p>
        </p:txBody>
      </p:sp>
      <p:sp>
        <p:nvSpPr>
          <p:cNvPr id="11" name="remaining-item-1">
            <a:extLst xmlns:a="http://schemas.openxmlformats.org/drawingml/2006/main">
              <a:ext uri="{FF2B5EF4-FFF2-40B4-BE49-F238E27FC236}">
                <a16:creationId xmlns:a16="http://schemas.microsoft.com/office/drawing/2014/main" id="{AEF8F4C8-8340-40CF-99D3-7D9C4BC1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多任务真实场景矩阵</a:t>
            </a:r>
          </a:p>
        </p:txBody>
      </p:sp>
      <p:sp>
        <p:nvSpPr>
          <p:cNvPr id="12" name="remaining-item-2">
            <a:extLst xmlns:a="http://schemas.openxmlformats.org/drawingml/2006/main">
              <a:ext uri="{FF2B5EF4-FFF2-40B4-BE49-F238E27FC236}">
                <a16:creationId xmlns:a16="http://schemas.microsoft.com/office/drawing/2014/main" id="{923967A8-5988-4445-A01C-79C40EE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正式洗稿规范审批</a:t>
            </a:r>
          </a:p>
        </p:txBody>
      </p:sp>
      <p:sp>
        <p:nvSpPr>
          <p:cNvPr id="13" name="remaining-item-3">
            <a:extLst xmlns:a="http://schemas.openxmlformats.org/drawingml/2006/main">
              <a:ext uri="{FF2B5EF4-FFF2-40B4-BE49-F238E27FC236}">
                <a16:creationId xmlns:a16="http://schemas.microsoft.com/office/drawing/2014/main" id="{E0DAC434-5FF3-47D1-999B-FF6DDF85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72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○  组合失败与重试验收</a:t>
            </a:r>
          </a:p>
        </p:txBody>
      </p:sp>
      <p:sp>
        <p:nvSpPr>
          <p:cNvPr id="14" name="progress-status">
            <a:extLst xmlns:a="http://schemas.openxmlformats.org/drawingml/2006/main">
              <a:ext uri="{FF2B5EF4-FFF2-40B4-BE49-F238E27FC236}">
                <a16:creationId xmlns:a16="http://schemas.microsoft.com/office/drawing/2014/main" id="{CF055E6E-D56C-4DF3-A59D-28FFBD5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当前判断：核心能力已验证，尚未正式上线</a:t>
            </a:r>
          </a:p>
        </p:txBody>
      </p:sp>
    </p:spTree>
    <p:extLst>
      <p:ext uri="{BB962C8B-B14F-4D97-AF65-F5344CB8AC3E}">
        <p14:creationId xmlns:p14="http://schemas.microsoft.com/office/powerpoint/2010/main" val="2997347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0-kicker">
            <a:extLst xmlns:a="http://schemas.openxmlformats.org/drawingml/2006/main">
              <a:ext uri="{FF2B5EF4-FFF2-40B4-BE49-F238E27FC236}">
                <a16:creationId xmlns:a16="http://schemas.microsoft.com/office/drawing/2014/main" id="{2435F0E5-D98D-4EB6-ACB3-76F3DE2D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微信内容发布秘书处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0223929C-D458-4C92-AA3A-D1D45CDB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建议进入小范围试运行，而不是直接全面上线</a:t>
            </a:r>
          </a:p>
        </p:txBody>
      </p:sp>
      <p:sp>
        <p:nvSpPr>
          <p:cNvPr id="3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EAA24B7D-7EF8-43DE-B22A-879F9748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pilot-timeline">
            <a:extLst xmlns:a="http://schemas.openxmlformats.org/drawingml/2006/main">
              <a:ext uri="{FF2B5EF4-FFF2-40B4-BE49-F238E27FC236}">
                <a16:creationId xmlns:a16="http://schemas.microsoft.com/office/drawing/2014/main" id="{65E42332-9B77-4F7B-89AB-561A1E62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0A0A"/>
            </a:solidFill>
            <a:prstDash val="solid"/>
          </a:ln>
        </p:spPr>
      </p:sp>
      <p:sp>
        <p:nvSpPr>
          <p:cNvPr id="5" name="pilot-dot-1">
            <a:extLst xmlns:a="http://schemas.openxmlformats.org/drawingml/2006/main">
              <a:ext uri="{FF2B5EF4-FFF2-40B4-BE49-F238E27FC236}">
                <a16:creationId xmlns:a16="http://schemas.microsoft.com/office/drawing/2014/main" id="{176FADC5-B851-4345-9C5B-FC74857F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ilot-num-1">
            <a:extLst xmlns:a="http://schemas.openxmlformats.org/drawingml/2006/main">
              <a:ext uri="{FF2B5EF4-FFF2-40B4-BE49-F238E27FC236}">
                <a16:creationId xmlns:a16="http://schemas.microsoft.com/office/drawing/2014/main" id="{978A41B1-BB0C-49A1-90BC-137B393B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ilot-title-1">
            <a:extLst xmlns:a="http://schemas.openxmlformats.org/drawingml/2006/main">
              <a:ext uri="{FF2B5EF4-FFF2-40B4-BE49-F238E27FC236}">
                <a16:creationId xmlns:a16="http://schemas.microsoft.com/office/drawing/2014/main" id="{C5C435F1-F240-4A01-86B4-5A512A8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限定试运行范围</a:t>
            </a:r>
          </a:p>
        </p:txBody>
      </p:sp>
      <p:sp>
        <p:nvSpPr>
          <p:cNvPr id="8" name="pilot-body-1">
            <a:extLst xmlns:a="http://schemas.openxmlformats.org/drawingml/2006/main">
              <a:ext uri="{FF2B5EF4-FFF2-40B4-BE49-F238E27FC236}">
                <a16:creationId xmlns:a16="http://schemas.microsoft.com/office/drawing/2014/main" id="{BE5EAAE7-02B4-48CF-9D22-BD9D3BCE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固定用户、固定运营人员、有限内容类型</a:t>
            </a:r>
          </a:p>
        </p:txBody>
      </p:sp>
      <p:sp>
        <p:nvSpPr>
          <p:cNvPr id="9" name="pilot-dot-2">
            <a:extLst xmlns:a="http://schemas.openxmlformats.org/drawingml/2006/main">
              <a:ext uri="{FF2B5EF4-FFF2-40B4-BE49-F238E27FC236}">
                <a16:creationId xmlns:a16="http://schemas.microsoft.com/office/drawing/2014/main" id="{3777E6E0-3670-4C44-8EDE-1EAB8C98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ilot-num-2">
            <a:extLst xmlns:a="http://schemas.openxmlformats.org/drawingml/2006/main">
              <a:ext uri="{FF2B5EF4-FFF2-40B4-BE49-F238E27FC236}">
                <a16:creationId xmlns:a16="http://schemas.microsoft.com/office/drawing/2014/main" id="{65765E18-0E44-4E6C-A280-469D3799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ilot-title-2">
            <a:extLst xmlns:a="http://schemas.openxmlformats.org/drawingml/2006/main">
              <a:ext uri="{FF2B5EF4-FFF2-40B4-BE49-F238E27FC236}">
                <a16:creationId xmlns:a16="http://schemas.microsoft.com/office/drawing/2014/main" id="{EF47FBCF-96D0-4C17-8CB7-A764669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补齐管理规则</a:t>
            </a:r>
          </a:p>
        </p:txBody>
      </p:sp>
      <p:sp>
        <p:nvSpPr>
          <p:cNvPr id="12" name="pilot-body-2">
            <a:extLst xmlns:a="http://schemas.openxmlformats.org/drawingml/2006/main">
              <a:ext uri="{FF2B5EF4-FFF2-40B4-BE49-F238E27FC236}">
                <a16:creationId xmlns:a16="http://schemas.microsoft.com/office/drawing/2014/main" id="{C5079E46-D4F9-4F06-B46B-07CE760A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洗稿边界、发布权限、异常处理与责任人</a:t>
            </a:r>
          </a:p>
        </p:txBody>
      </p:sp>
      <p:sp>
        <p:nvSpPr>
          <p:cNvPr id="13" name="pilot-dot-3">
            <a:extLst xmlns:a="http://schemas.openxmlformats.org/drawingml/2006/main">
              <a:ext uri="{FF2B5EF4-FFF2-40B4-BE49-F238E27FC236}">
                <a16:creationId xmlns:a16="http://schemas.microsoft.com/office/drawing/2014/main" id="{4075D0DF-8BB1-487F-9B18-A47B093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6230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ilot-num-3">
            <a:extLst xmlns:a="http://schemas.openxmlformats.org/drawingml/2006/main">
              <a:ext uri="{FF2B5EF4-FFF2-40B4-BE49-F238E27FC236}">
                <a16:creationId xmlns:a16="http://schemas.microsoft.com/office/drawing/2014/main" id="{7E2708AA-5193-4584-B917-7E2E1170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22897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ilot-title-3">
            <a:extLst xmlns:a="http://schemas.openxmlformats.org/drawingml/2006/main">
              <a:ext uri="{FF2B5EF4-FFF2-40B4-BE49-F238E27FC236}">
                <a16:creationId xmlns:a16="http://schemas.microsoft.com/office/drawing/2014/main" id="{5ABE9CCC-8841-44F4-97F9-E7EB22DD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909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达成上线门槛</a:t>
            </a:r>
          </a:p>
        </p:txBody>
      </p:sp>
      <p:sp>
        <p:nvSpPr>
          <p:cNvPr id="16" name="pilot-body-3">
            <a:extLst xmlns:a="http://schemas.openxmlformats.org/drawingml/2006/main">
              <a:ext uri="{FF2B5EF4-FFF2-40B4-BE49-F238E27FC236}">
                <a16:creationId xmlns:a16="http://schemas.microsoft.com/office/drawing/2014/main" id="{9B3C8B57-C340-4015-950D-159D0D3B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33875"/>
            <a:ext cx="271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多任务验收通过，关键风险关闭并完成复盘</a:t>
            </a:r>
          </a:p>
        </p:txBody>
      </p:sp>
      <p:sp>
        <p:nvSpPr>
          <p:cNvPr id="17" name="pilot-decision">
            <a:extLst xmlns:a="http://schemas.openxmlformats.org/drawingml/2006/main">
              <a:ext uri="{FF2B5EF4-FFF2-40B4-BE49-F238E27FC236}">
                <a16:creationId xmlns:a16="http://schemas.microsoft.com/office/drawing/2014/main" id="{CA1CBF6E-B26A-478A-9C2A-15833963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需要管理层确认：资格口径  ·  试运行范围  ·  内容规范负责人  ·  发布授权人</a:t>
            </a:r>
          </a:p>
        </p:txBody>
      </p:sp>
      <p:sp>
        <p:nvSpPr>
          <p:cNvPr id="18" name="pilot-close">
            <a:extLst xmlns:a="http://schemas.openxmlformats.org/drawingml/2006/main">
              <a:ext uri="{FF2B5EF4-FFF2-40B4-BE49-F238E27FC236}">
                <a16:creationId xmlns:a16="http://schemas.microsoft.com/office/drawing/2014/main" id="{015586E4-8897-46B8-A80C-762A530B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目标：先形成稳定的运营闭环，再扩大使用范围。</a:t>
            </a:r>
          </a:p>
        </p:txBody>
      </p:sp>
    </p:spTree>
    <p:extLst>
      <p:ext uri="{BB962C8B-B14F-4D97-AF65-F5344CB8AC3E}">
        <p14:creationId xmlns:p14="http://schemas.microsoft.com/office/powerpoint/2010/main" val="1854534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2026-07-27T20:23:40.9990000Z</dcterms:created>
  <dcterms:modified xsi:type="dcterms:W3CDTF">2026-07-27T20:23:40.9990000Z</dcterms:modified>
</coreProperties>
</file>