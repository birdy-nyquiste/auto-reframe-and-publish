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3c33ee48e145d9" /><Relationship Type="http://schemas.openxmlformats.org/officeDocument/2006/relationships/extended-properties" Target="/docProps/app.xml" Id="Rce42eef9b4394299" /><Relationship Type="http://schemas.openxmlformats.org/officeDocument/2006/relationships/officeDocument" Target="/ppt/presentation.xml" Id="Reba4f01feec941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4f17db46e246de"/>
  </p:sldMasterIdLst>
  <p:notesMasterIdLst>
    <p:notesMasterId xmlns:r="http://schemas.openxmlformats.org/officeDocument/2006/relationships" r:id="R2d1b18c5c1b24ddf"/>
  </p:notesMasterIdLst>
  <p:sldIdLst>
    <p:sldId xmlns:r="http://schemas.openxmlformats.org/officeDocument/2006/relationships" id="256" r:id="Rb9596495ea1a4b4d"/>
    <p:sldId xmlns:r="http://schemas.openxmlformats.org/officeDocument/2006/relationships" id="257" r:id="R0428c01233324ba4"/>
    <p:sldId xmlns:r="http://schemas.openxmlformats.org/officeDocument/2006/relationships" id="258" r:id="Rda94285f05764b8a"/>
    <p:sldId xmlns:r="http://schemas.openxmlformats.org/officeDocument/2006/relationships" id="259" r:id="R028a4a023a364f67"/>
    <p:sldId xmlns:r="http://schemas.openxmlformats.org/officeDocument/2006/relationships" id="260" r:id="R3d217eed0c484e2d"/>
    <p:sldId xmlns:r="http://schemas.openxmlformats.org/officeDocument/2006/relationships" id="261" r:id="R1745fc163268409c"/>
    <p:sldId xmlns:r="http://schemas.openxmlformats.org/officeDocument/2006/relationships" id="262" r:id="Rcab7117fe08646af"/>
    <p:sldId xmlns:r="http://schemas.openxmlformats.org/officeDocument/2006/relationships" id="263" r:id="R8c74dd74f85c45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5f8ba596484b31" /><Relationship Type="http://schemas.openxmlformats.org/officeDocument/2006/relationships/slideMaster" Target="/ppt/slideMasters/slideMaster1.xml" Id="R464f17db46e246de" /><Relationship Type="http://schemas.openxmlformats.org/officeDocument/2006/relationships/notesMaster" Target="/ppt/notesMasters/notesMaster1.xml" Id="R2d1b18c5c1b24ddf" /><Relationship Type="http://schemas.openxmlformats.org/officeDocument/2006/relationships/presProps" Target="/ppt/presProps.xml" Id="R4f176c4d48eb442b" /><Relationship Type="http://schemas.openxmlformats.org/officeDocument/2006/relationships/tableStyles" Target="/ppt/tableStyles.xml" Id="R9f3e9647da3b41e5" /><Relationship Type="http://schemas.openxmlformats.org/officeDocument/2006/relationships/slide" Target="/ppt/slides/slide1.xml" Id="Rb9596495ea1a4b4d" /><Relationship Type="http://schemas.openxmlformats.org/officeDocument/2006/relationships/slide" Target="/ppt/slides/slide2.xml" Id="R0428c01233324ba4" /><Relationship Type="http://schemas.openxmlformats.org/officeDocument/2006/relationships/slide" Target="/ppt/slides/slide3.xml" Id="Rda94285f05764b8a" /><Relationship Type="http://schemas.openxmlformats.org/officeDocument/2006/relationships/slide" Target="/ppt/slides/slide4.xml" Id="R028a4a023a364f67" /><Relationship Type="http://schemas.openxmlformats.org/officeDocument/2006/relationships/slide" Target="/ppt/slides/slide5.xml" Id="R3d217eed0c484e2d" /><Relationship Type="http://schemas.openxmlformats.org/officeDocument/2006/relationships/slide" Target="/ppt/slides/slide6.xml" Id="R1745fc163268409c" /><Relationship Type="http://schemas.openxmlformats.org/officeDocument/2006/relationships/slide" Target="/ppt/slides/slide7.xml" Id="Rcab7117fe08646af" /><Relationship Type="http://schemas.openxmlformats.org/officeDocument/2006/relationships/slide" Target="/ppt/slides/slide8.xml" Id="R8c74dd74f85c45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43b4b4bcaf42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d9ade7c0fb49c6" /><Relationship Type="http://schemas.openxmlformats.org/officeDocument/2006/relationships/notesMaster" Target="/ppt/notesMasters/notesMaster1.xml" Id="R1c237885ef1f48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701cb6267d4dab" /><Relationship Type="http://schemas.openxmlformats.org/officeDocument/2006/relationships/notesMaster" Target="/ppt/notesMasters/notesMaster1.xml" Id="R60abac21c3664b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aa44a41c654d54" /><Relationship Type="http://schemas.openxmlformats.org/officeDocument/2006/relationships/notesMaster" Target="/ppt/notesMasters/notesMaster1.xml" Id="Ra8fbd31d38e54c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03a7c6bf3b4a4c" /><Relationship Type="http://schemas.openxmlformats.org/officeDocument/2006/relationships/notesMaster" Target="/ppt/notesMasters/notesMaster1.xml" Id="Ree6eb3f52bf24b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7a1346973b408d" /><Relationship Type="http://schemas.openxmlformats.org/officeDocument/2006/relationships/notesMaster" Target="/ppt/notesMasters/notesMaster1.xml" Id="R5b83a839d9f445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989b6d2b714f38" /><Relationship Type="http://schemas.openxmlformats.org/officeDocument/2006/relationships/notesMaster" Target="/ppt/notesMasters/notesMaster1.xml" Id="R0c0dc3960f6c4f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6309593bb248a7" /><Relationship Type="http://schemas.openxmlformats.org/officeDocument/2006/relationships/notesMaster" Target="/ppt/notesMasters/notesMaster1.xml" Id="R3e465793e6164c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24e7c6d3554f10" /><Relationship Type="http://schemas.openxmlformats.org/officeDocument/2006/relationships/notesMaster" Target="/ppt/notesMasters/notesMaster1.xml" Id="Rf840c02cc6d246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开场只讲业务：这不是一个写作插件，而是一套可运营、可管控的内容秘书处。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/Users/birdy/NyquisteProjects/weixin-blog-publish/docs/weixin-blog-business-architecture.drawio</a:t>
            </a:r>
          </a:p>
          <a:p xmlns:a="http://schemas.openxmlformats.org/drawingml/2006/main">
            <a:r>
              <a:t>- /Users/birdy/NyquisteProjects/weixin-blog-publish/CONTEXT.md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这一页不讨论技术复杂度，只说明为什么需要秘书处：把个人经验变成组织流程。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/Users/birdy/NyquisteProjects/weixin-blog-publish/CONTEXT.md</a:t>
            </a:r>
          </a:p>
          <a:p xmlns:a="http://schemas.openxmlformats.org/drawingml/2006/main">
            <a:r>
              <a:t>- /Users/birdy/NyquisteProjects/weixin-blog-publish/skills/process-weixin-submissions/SKILL.md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架构重点：秘书处只有微信客户端和 Agent 两个业务组件；本地任务库是独立留档底座。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/Users/birdy/NyquisteProjects/weixin-blog-publish/docs/weixin-blog-business-architecture.drawio</a:t>
            </a:r>
          </a:p>
          <a:p xmlns:a="http://schemas.openxmlformats.org/drawingml/2006/main">
            <a:r>
              <a:t>- /Users/birdy/NyquisteProjects/weixin-blog-publish/CONTEXT.md</a:t>
            </a:r>
          </a:p>
          <a:p xmlns:a="http://schemas.openxmlformats.org/drawingml/2006/main">
            <a:r>
              <a:t>- /Users/birdy/NyquisteProjects/weixin-blog-publish/docs/task-repository-layout.md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五项动作来自项目的真实 Skill，不是泛化的 AI 内容流程。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/Users/birdy/NyquisteProjects/weixin-blog-publish/skills/process-weixin-submissions/SKILL.md</a:t>
            </a:r>
          </a:p>
          <a:p xmlns:a="http://schemas.openxmlformats.org/drawingml/2006/main">
            <a:r>
              <a:t>- /Users/birdy/NyquisteProjects/weixin-blog-publish/docs/adr/0002-use-one-portable-end-to-end-skill.md</a:t>
            </a:r>
          </a:p>
          <a:p xmlns:a="http://schemas.openxmlformats.org/drawingml/2006/main">
            <a:r>
              <a:t>- /Users/birdy/NyquisteProjects/weixin-blog-publish/docs/adr/0009-separate-content-work-from-opt-in-publication.md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商业价值是组织能力：入口统一、标准一致、过程可追溯、发布可控制。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/Users/birdy/NyquisteProjects/weixin-blog-publish/CONTEXT.md</a:t>
            </a:r>
          </a:p>
          <a:p xmlns:a="http://schemas.openxmlformats.org/drawingml/2006/main">
            <a:r>
              <a:t>- /Users/birdy/NyquisteProjects/weixin-blog-publish/docs/task-repository-layout.md</a:t>
            </a:r>
          </a:p>
          <a:p xmlns:a="http://schemas.openxmlformats.org/drawingml/2006/main">
            <a:r>
              <a:t>- /Users/birdy/NyquisteProjects/weixin-blog-publish/docs/adr/0009-separate-content-work-from-opt-in-publication.md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向管理层强调：自动化是执行能力，授权与责任仍由人掌握。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/Users/birdy/NyquisteProjects/weixin-blog-publish/docs/adr/0009-separate-content-work-from-opt-in-publication.md</a:t>
            </a:r>
          </a:p>
          <a:p xmlns:a="http://schemas.openxmlformats.org/drawingml/2006/main">
            <a:r>
              <a:t>- /Users/birdy/NyquisteProjects/weixin-blog-publish/skills/process-weixin-submissions/SKILL.md</a:t>
            </a:r>
          </a:p>
          <a:p xmlns:a="http://schemas.openxmlformats.org/drawingml/2006/main">
            <a:r>
              <a:t>- /Users/birdy/NyquisteProjects/weixin-blog-publish/docs/task-repository-layout.md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不要把“单条真实链路跑通”讲成“系统已 ready”。仓库的正式状态仍是 core_validated。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/Users/birdy/NyquisteProjects/weixin-blog-publish/docs/validation/2026-07-24-macos-wechat-full-article-tracer.md</a:t>
            </a:r>
          </a:p>
          <a:p xmlns:a="http://schemas.openxmlformats.org/drawingml/2006/main">
            <a:r>
              <a:t>- /Users/birdy/NyquisteProjects/weixin-blog-publish/docs/validation/2026-07-24-wechat-auto-publication-tracer.md</a:t>
            </a:r>
          </a:p>
          <a:p xmlns:a="http://schemas.openxmlformats.org/drawingml/2006/main">
            <a:r>
              <a:t>- /Users/birdy/NyquisteProjects/weixin-blog-publish/docs/validation/2026-07-24-live-publication-acceptance.md</a:t>
            </a:r>
          </a:p>
          <a:p xmlns:a="http://schemas.openxmlformats.org/drawingml/2006/main">
            <a:r>
              <a:t>- /Users/birdy/NyquisteProjects/weixin-blog-publish/docs/content-rewrite-policy.md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结束时争取三个管理决策：试运行范围、内容规范负责人、发布授权人。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/Users/birdy/NyquisteProjects/weixin-blog-publish/docs/validation/2026-07-24-wechat-auto-publication-tracer.md</a:t>
            </a:r>
          </a:p>
          <a:p xmlns:a="http://schemas.openxmlformats.org/drawingml/2006/main">
            <a:r>
              <a:t>- /Users/birdy/NyquisteProjects/weixin-blog-publish/docs/content-rewrite-policy.md</a:t>
            </a:r>
          </a:p>
          <a:p xmlns:a="http://schemas.openxmlformats.org/drawingml/2006/main">
            <a:r>
              <a:t>- /Users/birdy/NyquisteProjects/weixin-blog-publish/docs/adr/0009-separate-content-work-from-opt-in-publication.md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f3943e265343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4c826610524364" /><Relationship Type="http://schemas.openxmlformats.org/officeDocument/2006/relationships/slideLayout" Target="/ppt/slideLayouts/slideLayout1.xml" Id="R604550278d4847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4550278d4847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d1d2ba60c4ecb" /><Relationship Type="http://schemas.openxmlformats.org/officeDocument/2006/relationships/notesSlide" Target="/ppt/notesSlides/notesSlide1.xml" Id="Re0390977801548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7121851cb4255" /><Relationship Type="http://schemas.openxmlformats.org/officeDocument/2006/relationships/notesSlide" Target="/ppt/notesSlides/notesSlide2.xml" Id="Rdc555745625d4b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a9cf9b65c4004" /><Relationship Type="http://schemas.openxmlformats.org/officeDocument/2006/relationships/notesSlide" Target="/ppt/notesSlides/notesSlide3.xml" Id="R5bab214591374b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bf0beae814786" /><Relationship Type="http://schemas.openxmlformats.org/officeDocument/2006/relationships/notesSlide" Target="/ppt/notesSlides/notesSlide4.xml" Id="Rab69721596774c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483861f5848ad" /><Relationship Type="http://schemas.openxmlformats.org/officeDocument/2006/relationships/notesSlide" Target="/ppt/notesSlides/notesSlide5.xml" Id="R50726e8f037742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dac8d25cd4634" /><Relationship Type="http://schemas.openxmlformats.org/officeDocument/2006/relationships/notesSlide" Target="/ppt/notesSlides/notesSlide6.xml" Id="R543a2e91de6546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0fe24e1754eac" /><Relationship Type="http://schemas.openxmlformats.org/officeDocument/2006/relationships/notesSlide" Target="/ppt/notesSlides/notesSlide7.xml" Id="R621afb38d49a41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0ec4258f44614" /><Relationship Type="http://schemas.openxmlformats.org/officeDocument/2006/relationships/notesSlide" Target="/ppt/notesSlides/notesSlide8.xml" Id="Rd2dfed97eede43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D7CB8E9-AE05-47FE-9C81-47105B32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NYQUISTE · 内容运营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122A1AE-E5AC-4D63-BD3A-9B675224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904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微信内容发布秘书处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FEDC6AA-01D0-45BE-86E7-B7383221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把微信里的投稿需求，转化为可追踪、可控制的 Blog 内容</a:t>
            </a:r>
          </a:p>
        </p:txBody>
      </p:sp>
      <p:sp>
        <p:nvSpPr>
          <p:cNvPr id="4" name="cover-accent-block">
            <a:extLst xmlns:a="http://schemas.openxmlformats.org/drawingml/2006/main">
              <a:ext uri="{FF2B5EF4-FFF2-40B4-BE49-F238E27FC236}">
                <a16:creationId xmlns:a16="http://schemas.microsoft.com/office/drawing/2014/main" id="{D5B9DF3D-306A-4A00-8829-6E633648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800100"/>
            <a:ext cx="1524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69BE53B6-CEA1-46A8-A5E1-BCE35927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商业汇报 · 2026.07</a:t>
            </a:r>
          </a:p>
        </p:txBody>
      </p:sp>
    </p:spTree>
    <p:extLst>
      <p:ext uri="{BB962C8B-B14F-4D97-AF65-F5344CB8AC3E}">
        <p14:creationId xmlns:p14="http://schemas.microsoft.com/office/powerpoint/2010/main" val="17624245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2-kicker">
            <a:extLst xmlns:a="http://schemas.openxmlformats.org/drawingml/2006/main">
              <a:ext uri="{FF2B5EF4-FFF2-40B4-BE49-F238E27FC236}">
                <a16:creationId xmlns:a16="http://schemas.microsoft.com/office/drawing/2014/main" id="{43E49E0A-0C82-4295-AA9B-B60E73D0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微信内容发布秘书处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239F4FB1-94E2-40E8-BC3D-F77FDD42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当前真正的问题，不是“写一篇文章”</a:t>
            </a:r>
          </a:p>
        </p:txBody>
      </p:sp>
      <p:sp>
        <p:nvSpPr>
          <p:cNvPr id="3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63314575-561B-4AFC-84AC-EA56E053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problem-claim">
            <a:extLst xmlns:a="http://schemas.openxmlformats.org/drawingml/2006/main">
              <a:ext uri="{FF2B5EF4-FFF2-40B4-BE49-F238E27FC236}">
                <a16:creationId xmlns:a16="http://schemas.microsoft.com/office/drawing/2014/main" id="{3A1C90AE-5EE0-44FA-A169-CDE046D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需求散落在聊天里，处理依赖个人经验，发布风险难以被组织化管理。</a:t>
            </a:r>
          </a:p>
        </p:txBody>
      </p:sp>
      <p:sp>
        <p:nvSpPr>
          <p:cNvPr id="5" name="point-1-num">
            <a:extLst xmlns:a="http://schemas.openxmlformats.org/drawingml/2006/main">
              <a:ext uri="{FF2B5EF4-FFF2-40B4-BE49-F238E27FC236}">
                <a16:creationId xmlns:a16="http://schemas.microsoft.com/office/drawing/2014/main" id="{13B29DD3-CF55-465E-96A9-07FCE56F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A8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A84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point-1-rule">
            <a:extLst xmlns:a="http://schemas.openxmlformats.org/drawingml/2006/main">
              <a:ext uri="{FF2B5EF4-FFF2-40B4-BE49-F238E27FC236}">
                <a16:creationId xmlns:a16="http://schemas.microsoft.com/office/drawing/2014/main" id="{FE7411DE-2CF0-4010-98EB-7E666A41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point-1-title">
            <a:extLst xmlns:a="http://schemas.openxmlformats.org/drawingml/2006/main">
              <a:ext uri="{FF2B5EF4-FFF2-40B4-BE49-F238E27FC236}">
                <a16:creationId xmlns:a16="http://schemas.microsoft.com/office/drawing/2014/main" id="{79BD0917-4542-4563-BD42-12E67122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入口非标准</a:t>
            </a:r>
          </a:p>
        </p:txBody>
      </p:sp>
      <p:sp>
        <p:nvSpPr>
          <p:cNvPr id="8" name="point-1-body">
            <a:extLst xmlns:a="http://schemas.openxmlformats.org/drawingml/2006/main">
              <a:ext uri="{FF2B5EF4-FFF2-40B4-BE49-F238E27FC236}">
                <a16:creationId xmlns:a16="http://schemas.microsoft.com/office/drawing/2014/main" id="{4CFD8C6D-7B45-4624-A4A3-2008F9EB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指令、作者信息与 Source 混在消息里，容易遗漏或误读。</a:t>
            </a:r>
          </a:p>
        </p:txBody>
      </p:sp>
      <p:sp>
        <p:nvSpPr>
          <p:cNvPr id="9" name="point-2-num">
            <a:extLst xmlns:a="http://schemas.openxmlformats.org/drawingml/2006/main">
              <a:ext uri="{FF2B5EF4-FFF2-40B4-BE49-F238E27FC236}">
                <a16:creationId xmlns:a16="http://schemas.microsoft.com/office/drawing/2014/main" id="{CB44DF76-4E04-427B-8F0E-941FC77F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385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oint-2-rule">
            <a:extLst xmlns:a="http://schemas.openxmlformats.org/drawingml/2006/main">
              <a:ext uri="{FF2B5EF4-FFF2-40B4-BE49-F238E27FC236}">
                <a16:creationId xmlns:a16="http://schemas.microsoft.com/office/drawing/2014/main" id="{25949717-D90C-4EB6-9926-60401750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004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point-2-title">
            <a:extLst xmlns:a="http://schemas.openxmlformats.org/drawingml/2006/main">
              <a:ext uri="{FF2B5EF4-FFF2-40B4-BE49-F238E27FC236}">
                <a16:creationId xmlns:a16="http://schemas.microsoft.com/office/drawing/2014/main" id="{9123655C-849D-4000-A1CD-B06CA7A8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71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过程不可见</a:t>
            </a:r>
          </a:p>
        </p:txBody>
      </p:sp>
      <p:sp>
        <p:nvSpPr>
          <p:cNvPr id="12" name="point-2-body">
            <a:extLst xmlns:a="http://schemas.openxmlformats.org/drawingml/2006/main">
              <a:ext uri="{FF2B5EF4-FFF2-40B4-BE49-F238E27FC236}">
                <a16:creationId xmlns:a16="http://schemas.microsoft.com/office/drawing/2014/main" id="{CF42F9DC-4496-4879-A742-C51C0BE1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6720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内容处理到哪一步、遇到什么阻塞，往往依赖个人记忆。</a:t>
            </a:r>
          </a:p>
        </p:txBody>
      </p:sp>
      <p:sp>
        <p:nvSpPr>
          <p:cNvPr id="13" name="point-3-num">
            <a:extLst xmlns:a="http://schemas.openxmlformats.org/drawingml/2006/main">
              <a:ext uri="{FF2B5EF4-FFF2-40B4-BE49-F238E27FC236}">
                <a16:creationId xmlns:a16="http://schemas.microsoft.com/office/drawing/2014/main" id="{EF39CB5F-94C8-4D80-9FDC-CDB06D01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385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point-3-rule">
            <a:extLst xmlns:a="http://schemas.openxmlformats.org/drawingml/2006/main">
              <a:ext uri="{FF2B5EF4-FFF2-40B4-BE49-F238E27FC236}">
                <a16:creationId xmlns:a16="http://schemas.microsoft.com/office/drawing/2014/main" id="{13AE1AAB-105E-4FE5-A38C-77B63F5A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point-3-title">
            <a:extLst xmlns:a="http://schemas.openxmlformats.org/drawingml/2006/main">
              <a:ext uri="{FF2B5EF4-FFF2-40B4-BE49-F238E27FC236}">
                <a16:creationId xmlns:a16="http://schemas.microsoft.com/office/drawing/2014/main" id="{477E8A1A-61C5-4C3A-ACCA-BE525239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71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发布不可失控</a:t>
            </a:r>
          </a:p>
        </p:txBody>
      </p:sp>
      <p:sp>
        <p:nvSpPr>
          <p:cNvPr id="16" name="point-3-body">
            <a:extLst xmlns:a="http://schemas.openxmlformats.org/drawingml/2006/main">
              <a:ext uri="{FF2B5EF4-FFF2-40B4-BE49-F238E27FC236}">
                <a16:creationId xmlns:a16="http://schemas.microsoft.com/office/drawing/2014/main" id="{A877B331-1CD7-4FEB-B9A5-0D2043D8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6720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内容一旦对外，错误作者、缺图或重复发布都会形成业务风险。</a:t>
            </a:r>
          </a:p>
        </p:txBody>
      </p:sp>
    </p:spTree>
    <p:extLst>
      <p:ext uri="{BB962C8B-B14F-4D97-AF65-F5344CB8AC3E}">
        <p14:creationId xmlns:p14="http://schemas.microsoft.com/office/powerpoint/2010/main" val="10214229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3-kicker">
            <a:extLst xmlns:a="http://schemas.openxmlformats.org/drawingml/2006/main">
              <a:ext uri="{FF2B5EF4-FFF2-40B4-BE49-F238E27FC236}">
                <a16:creationId xmlns:a16="http://schemas.microsoft.com/office/drawing/2014/main" id="{D6ADB894-35D2-4BBC-AF1C-0C95A3CD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微信内容发布秘书处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068C2D61-5500-42CF-84A2-6E8C96EC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秘书处把用户需求变成一条可管理的内容链路</a:t>
            </a:r>
          </a:p>
        </p:txBody>
      </p:sp>
      <p:sp>
        <p:nvSpPr>
          <p:cNvPr id="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51990565-2ABC-4804-8EBF-FBC76ECB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architecture-user-arrow">
            <a:extLst xmlns:a="http://schemas.openxmlformats.org/drawingml/2006/main">
              <a:ext uri="{FF2B5EF4-FFF2-40B4-BE49-F238E27FC236}">
                <a16:creationId xmlns:a16="http://schemas.microsoft.com/office/drawing/2014/main" id="{AEB1A1AF-2E1B-48F4-88DF-56967A8C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57500"/>
            <a:ext cx="6096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architecture-agent-pull-arrow">
            <a:extLst xmlns:a="http://schemas.openxmlformats.org/drawingml/2006/main">
              <a:ext uri="{FF2B5EF4-FFF2-40B4-BE49-F238E27FC236}">
                <a16:creationId xmlns:a16="http://schemas.microsoft.com/office/drawing/2014/main" id="{6DBC6311-07E0-4AEF-B73E-948AC933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14750"/>
            <a:ext cx="4572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architecture-blog-arrow">
            <a:extLst xmlns:a="http://schemas.openxmlformats.org/drawingml/2006/main">
              <a:ext uri="{FF2B5EF4-FFF2-40B4-BE49-F238E27FC236}">
                <a16:creationId xmlns:a16="http://schemas.microsoft.com/office/drawing/2014/main" id="{94C6227A-3400-4A43-935E-80D16583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7" name="architecture-agent-repo-line">
            <a:extLst xmlns:a="http://schemas.openxmlformats.org/drawingml/2006/main">
              <a:ext uri="{FF2B5EF4-FFF2-40B4-BE49-F238E27FC236}">
                <a16:creationId xmlns:a16="http://schemas.microsoft.com/office/drawing/2014/main" id="{33845223-2CA1-4818-8280-96D8BD08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67200"/>
            <a:ext cx="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468F"/>
            </a:solidFill>
            <a:prstDash val="dash"/>
          </a:ln>
        </p:spPr>
      </p:sp>
      <p:sp>
        <p:nvSpPr>
          <p:cNvPr id="8" name="architecture-user-area">
            <a:extLst xmlns:a="http://schemas.openxmlformats.org/drawingml/2006/main">
              <a:ext uri="{FF2B5EF4-FFF2-40B4-BE49-F238E27FC236}">
                <a16:creationId xmlns:a16="http://schemas.microsoft.com/office/drawing/2014/main" id="{65E03A30-F594-4C3A-9170-B1DCF4AE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714500"/>
            <a:ext cx="1762125" cy="2667000"/>
          </a:xfrm>
          <a:prstGeom xmlns:a="http://schemas.openxmlformats.org/drawingml/2006/main" prst="roundRect">
            <a:avLst>
              <a:gd name="adj" fmla="val 973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9" name="architecture-user-title">
            <a:extLst xmlns:a="http://schemas.openxmlformats.org/drawingml/2006/main">
              <a:ext uri="{FF2B5EF4-FFF2-40B4-BE49-F238E27FC236}">
                <a16:creationId xmlns:a16="http://schemas.microsoft.com/office/drawing/2014/main" id="{27D730C7-5D7E-4B55-8C80-7D520F05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用户</a:t>
            </a:r>
          </a:p>
        </p:txBody>
      </p:sp>
      <p:sp>
        <p:nvSpPr>
          <p:cNvPr id="10" name="architecture-user-body">
            <a:extLst xmlns:a="http://schemas.openxmlformats.org/drawingml/2006/main">
              <a:ext uri="{FF2B5EF4-FFF2-40B4-BE49-F238E27FC236}">
                <a16:creationId xmlns:a16="http://schemas.microsoft.com/office/drawing/2014/main" id="{065C31EC-4017-4B4A-B9EA-1B6F4020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1285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发文需求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Source 材料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必要补充信息</a:t>
            </a:r>
          </a:p>
        </p:txBody>
      </p:sp>
      <p:sp>
        <p:nvSpPr>
          <p:cNvPr id="11" name="architecture-secretariat-area">
            <a:extLst xmlns:a="http://schemas.openxmlformats.org/drawingml/2006/main">
              <a:ext uri="{FF2B5EF4-FFF2-40B4-BE49-F238E27FC236}">
                <a16:creationId xmlns:a16="http://schemas.microsoft.com/office/drawing/2014/main" id="{E9998E6B-BC6F-4C61-8A82-3D3EB6F2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28750"/>
            <a:ext cx="6715125" cy="3667125"/>
          </a:xfrm>
          <a:prstGeom xmlns:a="http://schemas.openxmlformats.org/drawingml/2006/main" prst="roundRect">
            <a:avLst>
              <a:gd name="adj" fmla="val 467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1430">
            <a:solidFill>
              <a:srgbClr val="6DCBF4"/>
            </a:solidFill>
            <a:prstDash val="solid"/>
          </a:ln>
        </p:spPr>
      </p:sp>
      <p:sp>
        <p:nvSpPr>
          <p:cNvPr id="12" name="architecture-secretariat-title">
            <a:extLst xmlns:a="http://schemas.openxmlformats.org/drawingml/2006/main">
              <a:ext uri="{FF2B5EF4-FFF2-40B4-BE49-F238E27FC236}">
                <a16:creationId xmlns:a16="http://schemas.microsoft.com/office/drawing/2014/main" id="{CCFD765F-06B2-4B9D-B6ED-7E687E1D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19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秘书处</a:t>
            </a:r>
          </a:p>
        </p:txBody>
      </p:sp>
      <p:sp>
        <p:nvSpPr>
          <p:cNvPr id="13" name="architecture-secretariat-subtitle">
            <a:extLst xmlns:a="http://schemas.openxmlformats.org/drawingml/2006/main">
              <a:ext uri="{FF2B5EF4-FFF2-40B4-BE49-F238E27FC236}">
                <a16:creationId xmlns:a16="http://schemas.microsoft.com/office/drawing/2014/main" id="{A5A31DB3-B05C-4E0B-85ED-3884297A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716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接收需求并转化为可发布内容</a:t>
            </a:r>
          </a:p>
        </p:txBody>
      </p:sp>
      <p:sp>
        <p:nvSpPr>
          <p:cNvPr id="14" name="architecture-wechat">
            <a:extLst xmlns:a="http://schemas.openxmlformats.org/drawingml/2006/main">
              <a:ext uri="{FF2B5EF4-FFF2-40B4-BE49-F238E27FC236}">
                <a16:creationId xmlns:a16="http://schemas.microsoft.com/office/drawing/2014/main" id="{04438FD7-7BD0-47F2-90F6-F381240B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81250"/>
            <a:ext cx="2381250" cy="1857375"/>
          </a:xfrm>
          <a:prstGeom xmlns:a="http://schemas.openxmlformats.org/drawingml/2006/main" prst="roundRect">
            <a:avLst>
              <a:gd name="adj" fmla="val 7179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1430">
            <a:solidFill>
              <a:srgbClr val="F6A84A"/>
            </a:solidFill>
            <a:prstDash val="solid"/>
          </a:ln>
        </p:spPr>
      </p:sp>
      <p:sp>
        <p:nvSpPr>
          <p:cNvPr id="15" name="architecture-wechat-title">
            <a:extLst xmlns:a="http://schemas.openxmlformats.org/drawingml/2006/main">
              <a:ext uri="{FF2B5EF4-FFF2-40B4-BE49-F238E27FC236}">
                <a16:creationId xmlns:a16="http://schemas.microsoft.com/office/drawing/2014/main" id="{FEE080E1-CF7B-40B9-9665-824D23C1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431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微信客户端</a:t>
            </a:r>
          </a:p>
        </p:txBody>
      </p:sp>
      <p:sp>
        <p:nvSpPr>
          <p:cNvPr id="16" name="architecture-chat">
            <a:extLst xmlns:a="http://schemas.openxmlformats.org/drawingml/2006/main">
              <a:ext uri="{FF2B5EF4-FFF2-40B4-BE49-F238E27FC236}">
                <a16:creationId xmlns:a16="http://schemas.microsoft.com/office/drawing/2014/main" id="{30378E3E-84B0-4E80-85B2-7EE91D29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48000"/>
            <a:ext cx="19812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C08C"/>
            </a:solidFill>
            <a:prstDash val="solid"/>
          </a:ln>
        </p:spPr>
      </p:sp>
      <p:sp>
        <p:nvSpPr>
          <p:cNvPr id="17" name="architecture-chat-text">
            <a:extLst xmlns:a="http://schemas.openxmlformats.org/drawingml/2006/main">
              <a:ext uri="{FF2B5EF4-FFF2-40B4-BE49-F238E27FC236}">
                <a16:creationId xmlns:a16="http://schemas.microsoft.com/office/drawing/2014/main" id="{0A35099D-0CB2-4DB7-9301-F784A573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A0A0A"/>
                </a:solidFill>
                <a:latin typeface="Arial"/>
                <a:ea typeface="Arial"/>
                <a:cs typeface="Arial"/>
              </a:rPr>
              <a:t>用户会话 · 接收与沟通</a:t>
            </a:r>
          </a:p>
        </p:txBody>
      </p:sp>
      <p:sp>
        <p:nvSpPr>
          <p:cNvPr id="18" name="architecture-fta">
            <a:extLst xmlns:a="http://schemas.openxmlformats.org/drawingml/2006/main">
              <a:ext uri="{FF2B5EF4-FFF2-40B4-BE49-F238E27FC236}">
                <a16:creationId xmlns:a16="http://schemas.microsoft.com/office/drawing/2014/main" id="{DED81A4E-240E-42FE-BAFC-1C436857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90925"/>
            <a:ext cx="19812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C08C"/>
            </a:solidFill>
            <a:prstDash val="solid"/>
          </a:ln>
        </p:spPr>
      </p:sp>
      <p:sp>
        <p:nvSpPr>
          <p:cNvPr id="19" name="architecture-fta-text">
            <a:extLst xmlns:a="http://schemas.openxmlformats.org/drawingml/2006/main">
              <a:ext uri="{FF2B5EF4-FFF2-40B4-BE49-F238E27FC236}">
                <a16:creationId xmlns:a16="http://schemas.microsoft.com/office/drawing/2014/main" id="{281041AD-9630-4C90-BD7B-87F7E989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8617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A0A0A"/>
                </a:solidFill>
                <a:latin typeface="Arial"/>
                <a:ea typeface="Arial"/>
                <a:cs typeface="Arial"/>
              </a:rPr>
              <a:t>文件传输助手 · 任务入口</a:t>
            </a:r>
          </a:p>
        </p:txBody>
      </p:sp>
      <p:sp>
        <p:nvSpPr>
          <p:cNvPr id="20" name="architecture-agent">
            <a:extLst xmlns:a="http://schemas.openxmlformats.org/drawingml/2006/main">
              <a:ext uri="{FF2B5EF4-FFF2-40B4-BE49-F238E27FC236}">
                <a16:creationId xmlns:a16="http://schemas.microsoft.com/office/drawing/2014/main" id="{67319AB9-A7FD-4983-9015-663048FE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43125"/>
            <a:ext cx="3190875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21" name="architecture-agent-title">
            <a:extLst xmlns:a="http://schemas.openxmlformats.org/drawingml/2006/main">
              <a:ext uri="{FF2B5EF4-FFF2-40B4-BE49-F238E27FC236}">
                <a16:creationId xmlns:a16="http://schemas.microsoft.com/office/drawing/2014/main" id="{E0A4EF7F-708E-4168-B760-14275DE7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241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22" name="architecture-agent-item-1">
            <a:extLst xmlns:a="http://schemas.openxmlformats.org/drawingml/2006/main">
              <a:ext uri="{FF2B5EF4-FFF2-40B4-BE49-F238E27FC236}">
                <a16:creationId xmlns:a16="http://schemas.microsoft.com/office/drawing/2014/main" id="{CDA34D4B-BB21-40F2-B0BE-52B38BD9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781300"/>
            <a:ext cx="27432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1430">
            <a:solidFill>
              <a:srgbClr val="B6D7F5"/>
            </a:solidFill>
            <a:prstDash val="solid"/>
          </a:ln>
        </p:spPr>
      </p:sp>
      <p:sp>
        <p:nvSpPr>
          <p:cNvPr id="23" name="architecture-agent-item-text-1">
            <a:extLst xmlns:a="http://schemas.openxmlformats.org/drawingml/2006/main">
              <a:ext uri="{FF2B5EF4-FFF2-40B4-BE49-F238E27FC236}">
                <a16:creationId xmlns:a16="http://schemas.microsoft.com/office/drawing/2014/main" id="{62853F9E-A9D6-4175-86D7-EC531A95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384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A0A0A"/>
                </a:solidFill>
                <a:latin typeface="Arial"/>
                <a:ea typeface="Arial"/>
                <a:cs typeface="Arial"/>
              </a:rPr>
              <a:t>识别投稿任务</a:t>
            </a:r>
          </a:p>
        </p:txBody>
      </p:sp>
      <p:sp>
        <p:nvSpPr>
          <p:cNvPr id="24" name="architecture-agent-item-2">
            <a:extLst xmlns:a="http://schemas.openxmlformats.org/drawingml/2006/main">
              <a:ext uri="{FF2B5EF4-FFF2-40B4-BE49-F238E27FC236}">
                <a16:creationId xmlns:a16="http://schemas.microsoft.com/office/drawing/2014/main" id="{1839EF86-4DAB-4CDA-9EE9-7BE3E91B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124200"/>
            <a:ext cx="27432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1430">
            <a:solidFill>
              <a:srgbClr val="B6D7F5"/>
            </a:solidFill>
            <a:prstDash val="solid"/>
          </a:ln>
        </p:spPr>
      </p:sp>
      <p:sp>
        <p:nvSpPr>
          <p:cNvPr id="25" name="architecture-agent-item-text-2">
            <a:extLst xmlns:a="http://schemas.openxmlformats.org/drawingml/2006/main">
              <a:ext uri="{FF2B5EF4-FFF2-40B4-BE49-F238E27FC236}">
                <a16:creationId xmlns:a16="http://schemas.microsoft.com/office/drawing/2014/main" id="{8D1DD91D-6826-432A-9D3B-B4603FDF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813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A0A0A"/>
                </a:solidFill>
                <a:latin typeface="Arial"/>
                <a:ea typeface="Arial"/>
                <a:cs typeface="Arial"/>
              </a:rPr>
              <a:t>抓取原文与图片</a:t>
            </a:r>
          </a:p>
        </p:txBody>
      </p:sp>
      <p:sp>
        <p:nvSpPr>
          <p:cNvPr id="26" name="architecture-agent-item-3">
            <a:extLst xmlns:a="http://schemas.openxmlformats.org/drawingml/2006/main">
              <a:ext uri="{FF2B5EF4-FFF2-40B4-BE49-F238E27FC236}">
                <a16:creationId xmlns:a16="http://schemas.microsoft.com/office/drawing/2014/main" id="{20D6EEC5-F89D-40EE-B280-3DD5D878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467100"/>
            <a:ext cx="27432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1430">
            <a:solidFill>
              <a:srgbClr val="B6D7F5"/>
            </a:solidFill>
            <a:prstDash val="solid"/>
          </a:ln>
        </p:spPr>
      </p:sp>
      <p:sp>
        <p:nvSpPr>
          <p:cNvPr id="27" name="architecture-agent-item-text-3">
            <a:extLst xmlns:a="http://schemas.openxmlformats.org/drawingml/2006/main">
              <a:ext uri="{FF2B5EF4-FFF2-40B4-BE49-F238E27FC236}">
                <a16:creationId xmlns:a16="http://schemas.microsoft.com/office/drawing/2014/main" id="{5CB33D07-4399-4DB5-B02B-B4E1D8FF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24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A0A0A"/>
                </a:solidFill>
                <a:latin typeface="Arial"/>
                <a:ea typeface="Arial"/>
                <a:cs typeface="Arial"/>
              </a:rPr>
              <a:t>洗稿并生成文章</a:t>
            </a:r>
          </a:p>
        </p:txBody>
      </p:sp>
      <p:sp>
        <p:nvSpPr>
          <p:cNvPr id="28" name="architecture-agent-item-4">
            <a:extLst xmlns:a="http://schemas.openxmlformats.org/drawingml/2006/main">
              <a:ext uri="{FF2B5EF4-FFF2-40B4-BE49-F238E27FC236}">
                <a16:creationId xmlns:a16="http://schemas.microsoft.com/office/drawing/2014/main" id="{E2F201F0-E28C-42EE-A968-941692B7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810000"/>
            <a:ext cx="27432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1430">
            <a:solidFill>
              <a:srgbClr val="B6D7F5"/>
            </a:solidFill>
            <a:prstDash val="solid"/>
          </a:ln>
        </p:spPr>
      </p:sp>
      <p:sp>
        <p:nvSpPr>
          <p:cNvPr id="29" name="architecture-agent-item-text-4">
            <a:extLst xmlns:a="http://schemas.openxmlformats.org/drawingml/2006/main">
              <a:ext uri="{FF2B5EF4-FFF2-40B4-BE49-F238E27FC236}">
                <a16:creationId xmlns:a16="http://schemas.microsoft.com/office/drawing/2014/main" id="{081D4CEB-957F-43CE-995B-8839DDA4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67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A0A0A"/>
                </a:solidFill>
                <a:latin typeface="Arial"/>
                <a:ea typeface="Arial"/>
                <a:cs typeface="Arial"/>
              </a:rPr>
              <a:t>按明确授权发布</a:t>
            </a:r>
          </a:p>
        </p:txBody>
      </p:sp>
      <p:sp>
        <p:nvSpPr>
          <p:cNvPr id="30" name="architecture-repository">
            <a:extLst xmlns:a="http://schemas.openxmlformats.org/drawingml/2006/main">
              <a:ext uri="{FF2B5EF4-FFF2-40B4-BE49-F238E27FC236}">
                <a16:creationId xmlns:a16="http://schemas.microsoft.com/office/drawing/2014/main" id="{17157AB4-6D11-427C-BD24-20F6402E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33900"/>
            <a:ext cx="60007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CECF5"/>
          </a:solidFill>
          <a:ln xmlns:a="http://schemas.openxmlformats.org/drawingml/2006/main" w="11430">
            <a:solidFill>
              <a:srgbClr val="D9468F"/>
            </a:solidFill>
            <a:prstDash val="solid"/>
          </a:ln>
        </p:spPr>
      </p:sp>
      <p:sp>
        <p:nvSpPr>
          <p:cNvPr id="31" name="architecture-repository-title">
            <a:extLst xmlns:a="http://schemas.openxmlformats.org/drawingml/2006/main">
              <a:ext uri="{FF2B5EF4-FFF2-40B4-BE49-F238E27FC236}">
                <a16:creationId xmlns:a16="http://schemas.microsoft.com/office/drawing/2014/main" id="{374EABC0-7638-4BFD-A5BA-76E344B7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3867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68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本地任务库</a:t>
            </a:r>
          </a:p>
        </p:txBody>
      </p:sp>
      <p:sp>
        <p:nvSpPr>
          <p:cNvPr id="32" name="architecture-repository-body">
            <a:extLst xmlns:a="http://schemas.openxmlformats.org/drawingml/2006/main">
              <a:ext uri="{FF2B5EF4-FFF2-40B4-BE49-F238E27FC236}">
                <a16:creationId xmlns:a16="http://schemas.microsoft.com/office/drawing/2014/main" id="{494530C8-6CDE-4AE6-8882-AAD33357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482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任务 · 素材 · 洗稿产物 · 发布记录</a:t>
            </a:r>
          </a:p>
        </p:txBody>
      </p:sp>
      <p:sp>
        <p:nvSpPr>
          <p:cNvPr id="33" name="architecture-blog">
            <a:extLst xmlns:a="http://schemas.openxmlformats.org/drawingml/2006/main">
              <a:ext uri="{FF2B5EF4-FFF2-40B4-BE49-F238E27FC236}">
                <a16:creationId xmlns:a16="http://schemas.microsoft.com/office/drawing/2014/main" id="{05E40CD4-67BF-4E78-A852-51477471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28875"/>
            <a:ext cx="1190625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34" name="architecture-blog-text">
            <a:extLst xmlns:a="http://schemas.openxmlformats.org/drawingml/2006/main">
              <a:ext uri="{FF2B5EF4-FFF2-40B4-BE49-F238E27FC236}">
                <a16:creationId xmlns:a16="http://schemas.microsoft.com/office/drawing/2014/main" id="{8E57426F-A566-4864-85FC-500C8DAD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8194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41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Blog</a:t>
            </a:r>
          </a:p>
        </p:txBody>
      </p:sp>
      <p:sp>
        <p:nvSpPr>
          <p:cNvPr id="35" name="architecture-pull-label">
            <a:extLst xmlns:a="http://schemas.openxmlformats.org/drawingml/2006/main">
              <a:ext uri="{FF2B5EF4-FFF2-40B4-BE49-F238E27FC236}">
                <a16:creationId xmlns:a16="http://schemas.microsoft.com/office/drawing/2014/main" id="{952A721E-779A-4C0D-BA40-3B6022AF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099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← 主动抓取</a:t>
            </a:r>
          </a:p>
        </p:txBody>
      </p:sp>
      <p:sp>
        <p:nvSpPr>
          <p:cNvPr id="36" name="architecture-publish-label">
            <a:extLst xmlns:a="http://schemas.openxmlformats.org/drawingml/2006/main">
              <a:ext uri="{FF2B5EF4-FFF2-40B4-BE49-F238E27FC236}">
                <a16:creationId xmlns:a16="http://schemas.microsoft.com/office/drawing/2014/main" id="{E957A4BB-9895-461D-AFC8-AF1A62B0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813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发布</a:t>
            </a:r>
          </a:p>
        </p:txBody>
      </p:sp>
      <p:sp>
        <p:nvSpPr>
          <p:cNvPr id="37" name="architecture-bottom-line">
            <a:extLst xmlns:a="http://schemas.openxmlformats.org/drawingml/2006/main">
              <a:ext uri="{FF2B5EF4-FFF2-40B4-BE49-F238E27FC236}">
                <a16:creationId xmlns:a16="http://schemas.microsoft.com/office/drawing/2014/main" id="{E5DCE940-38CF-4605-8258-7870642C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505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统一入口  ·  主动处理  ·  明确授权  ·  全程留档</a:t>
            </a:r>
          </a:p>
        </p:txBody>
      </p:sp>
    </p:spTree>
    <p:extLst>
      <p:ext uri="{BB962C8B-B14F-4D97-AF65-F5344CB8AC3E}">
        <p14:creationId xmlns:p14="http://schemas.microsoft.com/office/powerpoint/2010/main" val="4903755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4-kicker">
            <a:extLst xmlns:a="http://schemas.openxmlformats.org/drawingml/2006/main">
              <a:ext uri="{FF2B5EF4-FFF2-40B4-BE49-F238E27FC236}">
                <a16:creationId xmlns:a16="http://schemas.microsoft.com/office/drawing/2014/main" id="{3376E1B1-AA6F-462C-ABE3-B5734F00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微信内容发布秘书处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8684B7AA-7A38-4A92-89BE-DD903434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Agent 承担五项业务动作，替代重复且易错的手工串联</a:t>
            </a:r>
          </a:p>
        </p:txBody>
      </p:sp>
      <p:sp>
        <p:nvSpPr>
          <p:cNvPr id="3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D59912A7-D5D1-4881-9539-362D28CF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agent-flow-line">
            <a:extLst xmlns:a="http://schemas.openxmlformats.org/drawingml/2006/main">
              <a:ext uri="{FF2B5EF4-FFF2-40B4-BE49-F238E27FC236}">
                <a16:creationId xmlns:a16="http://schemas.microsoft.com/office/drawing/2014/main" id="{B9A6AFB9-F647-420A-9322-996DC5A7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95650"/>
            <a:ext cx="10334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5" name="agent-step-dot-1">
            <a:extLst xmlns:a="http://schemas.openxmlformats.org/drawingml/2006/main">
              <a:ext uri="{FF2B5EF4-FFF2-40B4-BE49-F238E27FC236}">
                <a16:creationId xmlns:a16="http://schemas.microsoft.com/office/drawing/2014/main" id="{594D4346-99E8-4BCC-85AE-659FB05C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gent-step-index-1">
            <a:extLst xmlns:a="http://schemas.openxmlformats.org/drawingml/2006/main">
              <a:ext uri="{FF2B5EF4-FFF2-40B4-BE49-F238E27FC236}">
                <a16:creationId xmlns:a16="http://schemas.microsoft.com/office/drawing/2014/main" id="{72F2AE20-FC1C-4864-938B-38E498BD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04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agent-step-title-1">
            <a:extLst xmlns:a="http://schemas.openxmlformats.org/drawingml/2006/main">
              <a:ext uri="{FF2B5EF4-FFF2-40B4-BE49-F238E27FC236}">
                <a16:creationId xmlns:a16="http://schemas.microsoft.com/office/drawing/2014/main" id="{A1D10DD0-B299-40D7-8A61-22781569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338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识别任务</a:t>
            </a:r>
          </a:p>
        </p:txBody>
      </p:sp>
      <p:sp>
        <p:nvSpPr>
          <p:cNvPr id="8" name="agent-step-body-1">
            <a:extLst xmlns:a="http://schemas.openxmlformats.org/drawingml/2006/main">
              <a:ext uri="{FF2B5EF4-FFF2-40B4-BE49-F238E27FC236}">
                <a16:creationId xmlns:a16="http://schemas.microsoft.com/office/drawing/2014/main" id="{7A4346C0-2169-4C2E-8DA2-770D57E8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从文件传输助手中识别投稿指令与 Source</a:t>
            </a:r>
          </a:p>
        </p:txBody>
      </p:sp>
      <p:sp>
        <p:nvSpPr>
          <p:cNvPr id="9" name="agent-step-dot-2">
            <a:extLst xmlns:a="http://schemas.openxmlformats.org/drawingml/2006/main">
              <a:ext uri="{FF2B5EF4-FFF2-40B4-BE49-F238E27FC236}">
                <a16:creationId xmlns:a16="http://schemas.microsoft.com/office/drawing/2014/main" id="{4091F638-53D5-429A-A90E-77EAC1E5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432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gent-step-index-2">
            <a:extLst xmlns:a="http://schemas.openxmlformats.org/drawingml/2006/main">
              <a:ext uri="{FF2B5EF4-FFF2-40B4-BE49-F238E27FC236}">
                <a16:creationId xmlns:a16="http://schemas.microsoft.com/office/drawing/2014/main" id="{C0801411-2A6C-4C1B-84AB-DA90E382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2004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agent-step-title-2">
            <a:extLst xmlns:a="http://schemas.openxmlformats.org/drawingml/2006/main">
              <a:ext uri="{FF2B5EF4-FFF2-40B4-BE49-F238E27FC236}">
                <a16:creationId xmlns:a16="http://schemas.microsoft.com/office/drawing/2014/main" id="{AB495481-4C05-47D0-95BB-0AF04D1F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7338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抓取内容</a:t>
            </a:r>
          </a:p>
        </p:txBody>
      </p:sp>
      <p:sp>
        <p:nvSpPr>
          <p:cNvPr id="12" name="agent-step-body-2">
            <a:extLst xmlns:a="http://schemas.openxmlformats.org/drawingml/2006/main">
              <a:ext uri="{FF2B5EF4-FFF2-40B4-BE49-F238E27FC236}">
                <a16:creationId xmlns:a16="http://schemas.microsoft.com/office/drawing/2014/main" id="{082BD5E3-5987-4503-81ED-975D8235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238625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获取正文、图片及来源信息</a:t>
            </a:r>
          </a:p>
        </p:txBody>
      </p:sp>
      <p:sp>
        <p:nvSpPr>
          <p:cNvPr id="13" name="agent-step-dot-3">
            <a:extLst xmlns:a="http://schemas.openxmlformats.org/drawingml/2006/main">
              <a:ext uri="{FF2B5EF4-FFF2-40B4-BE49-F238E27FC236}">
                <a16:creationId xmlns:a16="http://schemas.microsoft.com/office/drawing/2014/main" id="{A1F95750-3D1E-45A3-9FD4-216AE42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1432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gent-step-index-3">
            <a:extLst xmlns:a="http://schemas.openxmlformats.org/drawingml/2006/main">
              <a:ext uri="{FF2B5EF4-FFF2-40B4-BE49-F238E27FC236}">
                <a16:creationId xmlns:a16="http://schemas.microsoft.com/office/drawing/2014/main" id="{41A0B287-0E69-43DB-AEBB-C4107B7E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2004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agent-step-title-3">
            <a:extLst xmlns:a="http://schemas.openxmlformats.org/drawingml/2006/main">
              <a:ext uri="{FF2B5EF4-FFF2-40B4-BE49-F238E27FC236}">
                <a16:creationId xmlns:a16="http://schemas.microsoft.com/office/drawing/2014/main" id="{3070AEB5-15B3-4D52-9ECF-905E0913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7338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洗稿</a:t>
            </a:r>
          </a:p>
        </p:txBody>
      </p:sp>
      <p:sp>
        <p:nvSpPr>
          <p:cNvPr id="16" name="agent-step-body-3">
            <a:extLst xmlns:a="http://schemas.openxmlformats.org/drawingml/2006/main">
              <a:ext uri="{FF2B5EF4-FFF2-40B4-BE49-F238E27FC236}">
                <a16:creationId xmlns:a16="http://schemas.microsoft.com/office/drawing/2014/main" id="{325E5A07-5218-4072-A3ED-46DACCE7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238625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按任务指令或默认规则生成文章</a:t>
            </a:r>
          </a:p>
        </p:txBody>
      </p:sp>
      <p:sp>
        <p:nvSpPr>
          <p:cNvPr id="17" name="agent-step-dot-4">
            <a:extLst xmlns:a="http://schemas.openxmlformats.org/drawingml/2006/main">
              <a:ext uri="{FF2B5EF4-FFF2-40B4-BE49-F238E27FC236}">
                <a16:creationId xmlns:a16="http://schemas.microsoft.com/office/drawing/2014/main" id="{8DA77C27-787D-41F6-8FBE-3D15DF0B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1432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gent-step-index-4">
            <a:extLst xmlns:a="http://schemas.openxmlformats.org/drawingml/2006/main">
              <a:ext uri="{FF2B5EF4-FFF2-40B4-BE49-F238E27FC236}">
                <a16:creationId xmlns:a16="http://schemas.microsoft.com/office/drawing/2014/main" id="{E25B8FF6-DBE6-4FAC-AB40-2C50E000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2004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agent-step-title-4">
            <a:extLst xmlns:a="http://schemas.openxmlformats.org/drawingml/2006/main">
              <a:ext uri="{FF2B5EF4-FFF2-40B4-BE49-F238E27FC236}">
                <a16:creationId xmlns:a16="http://schemas.microsoft.com/office/drawing/2014/main" id="{B0E59B00-053C-4F53-8A15-D71D5EDF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338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本地留档</a:t>
            </a:r>
          </a:p>
        </p:txBody>
      </p:sp>
      <p:sp>
        <p:nvSpPr>
          <p:cNvPr id="20" name="agent-step-body-4">
            <a:extLst xmlns:a="http://schemas.openxmlformats.org/drawingml/2006/main">
              <a:ext uri="{FF2B5EF4-FFF2-40B4-BE49-F238E27FC236}">
                <a16:creationId xmlns:a16="http://schemas.microsoft.com/office/drawing/2014/main" id="{DFC4F27F-C2ED-4A7A-B4D8-896495A9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238625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持续记录任务、素材、产物与状态</a:t>
            </a:r>
          </a:p>
        </p:txBody>
      </p:sp>
      <p:sp>
        <p:nvSpPr>
          <p:cNvPr id="21" name="agent-step-dot-5">
            <a:extLst xmlns:a="http://schemas.openxmlformats.org/drawingml/2006/main">
              <a:ext uri="{FF2B5EF4-FFF2-40B4-BE49-F238E27FC236}">
                <a16:creationId xmlns:a16="http://schemas.microsoft.com/office/drawing/2014/main" id="{96644906-C24A-4696-B1B6-66E66C31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1432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gent-step-index-5">
            <a:extLst xmlns:a="http://schemas.openxmlformats.org/drawingml/2006/main">
              <a:ext uri="{FF2B5EF4-FFF2-40B4-BE49-F238E27FC236}">
                <a16:creationId xmlns:a16="http://schemas.microsoft.com/office/drawing/2014/main" id="{236D702C-6993-49AB-99E0-330E16E8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2004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agent-step-title-5">
            <a:extLst xmlns:a="http://schemas.openxmlformats.org/drawingml/2006/main">
              <a:ext uri="{FF2B5EF4-FFF2-40B4-BE49-F238E27FC236}">
                <a16:creationId xmlns:a16="http://schemas.microsoft.com/office/drawing/2014/main" id="{F9A6B9CA-66D9-4FFB-8477-C5D727D5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7338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发布</a:t>
            </a:r>
          </a:p>
        </p:txBody>
      </p:sp>
      <p:sp>
        <p:nvSpPr>
          <p:cNvPr id="24" name="agent-step-body-5">
            <a:extLst xmlns:a="http://schemas.openxmlformats.org/drawingml/2006/main">
              <a:ext uri="{FF2B5EF4-FFF2-40B4-BE49-F238E27FC236}">
                <a16:creationId xmlns:a16="http://schemas.microsoft.com/office/drawing/2014/main" id="{2C4442E7-5562-4B65-8A84-AC5515D4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238625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仅在明确授权后提交 Blog</a:t>
            </a:r>
          </a:p>
        </p:txBody>
      </p:sp>
      <p:sp>
        <p:nvSpPr>
          <p:cNvPr id="25" name="agent-flow-callout">
            <a:extLst xmlns:a="http://schemas.openxmlformats.org/drawingml/2006/main">
              <a:ext uri="{FF2B5EF4-FFF2-40B4-BE49-F238E27FC236}">
                <a16:creationId xmlns:a16="http://schemas.microsoft.com/office/drawing/2014/main" id="{D29A7FB3-A45A-456A-B57C-56B9BD89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发布不是默认动作，而是独立的管理授权。</a:t>
            </a:r>
          </a:p>
        </p:txBody>
      </p:sp>
    </p:spTree>
    <p:extLst>
      <p:ext uri="{BB962C8B-B14F-4D97-AF65-F5344CB8AC3E}">
        <p14:creationId xmlns:p14="http://schemas.microsoft.com/office/powerpoint/2010/main" val="18366690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5-kicker">
            <a:extLst xmlns:a="http://schemas.openxmlformats.org/drawingml/2006/main">
              <a:ext uri="{FF2B5EF4-FFF2-40B4-BE49-F238E27FC236}">
                <a16:creationId xmlns:a16="http://schemas.microsoft.com/office/drawing/2014/main" id="{6A3B8646-3400-455F-8887-66C5DE96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微信内容发布秘书处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F3A8CE61-CB28-44A2-BBC9-DA147F58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价值不在“更快写稿”，而在把内容运营变成组织能力</a:t>
            </a:r>
          </a:p>
        </p:txBody>
      </p:sp>
      <p:sp>
        <p:nvSpPr>
          <p:cNvPr id="3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C58A6EBD-9584-4610-A9C6-13DD4666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point-1-num">
            <a:extLst xmlns:a="http://schemas.openxmlformats.org/drawingml/2006/main">
              <a:ext uri="{FF2B5EF4-FFF2-40B4-BE49-F238E27FC236}">
                <a16:creationId xmlns:a16="http://schemas.microsoft.com/office/drawing/2014/main" id="{5C52473F-DD26-4C8F-BBB7-5B93DDD4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A8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A84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point-1-rule">
            <a:extLst xmlns:a="http://schemas.openxmlformats.org/drawingml/2006/main">
              <a:ext uri="{FF2B5EF4-FFF2-40B4-BE49-F238E27FC236}">
                <a16:creationId xmlns:a16="http://schemas.microsoft.com/office/drawing/2014/main" id="{E0DDF6BE-4A40-48AB-AA52-8F27986C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14575"/>
            <a:ext cx="519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point-1-title">
            <a:extLst xmlns:a="http://schemas.openxmlformats.org/drawingml/2006/main">
              <a:ext uri="{FF2B5EF4-FFF2-40B4-BE49-F238E27FC236}">
                <a16:creationId xmlns:a16="http://schemas.microsoft.com/office/drawing/2014/main" id="{0D55AFE4-882B-4CCD-833F-CC626715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86025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统一入口</a:t>
            </a:r>
          </a:p>
        </p:txBody>
      </p:sp>
      <p:sp>
        <p:nvSpPr>
          <p:cNvPr id="7" name="point-1-body">
            <a:extLst xmlns:a="http://schemas.openxmlformats.org/drawingml/2006/main">
              <a:ext uri="{FF2B5EF4-FFF2-40B4-BE49-F238E27FC236}">
                <a16:creationId xmlns:a16="http://schemas.microsoft.com/office/drawing/2014/main" id="{E2803F02-1CAB-4CAE-BDAF-349CD644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191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员工继续使用熟悉的微信环境，投稿需求集中进入同一条处理链路。</a:t>
            </a:r>
          </a:p>
        </p:txBody>
      </p:sp>
      <p:sp>
        <p:nvSpPr>
          <p:cNvPr id="8" name="point-2-num">
            <a:extLst xmlns:a="http://schemas.openxmlformats.org/drawingml/2006/main">
              <a:ext uri="{FF2B5EF4-FFF2-40B4-BE49-F238E27FC236}">
                <a16:creationId xmlns:a16="http://schemas.microsoft.com/office/drawing/2014/main" id="{4B5EFB36-E360-4AB0-96D4-3786637B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point-2-rule">
            <a:extLst xmlns:a="http://schemas.openxmlformats.org/drawingml/2006/main">
              <a:ext uri="{FF2B5EF4-FFF2-40B4-BE49-F238E27FC236}">
                <a16:creationId xmlns:a16="http://schemas.microsoft.com/office/drawing/2014/main" id="{66370CBB-C3EF-4A60-B8F1-63B0596D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14575"/>
            <a:ext cx="519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point-2-title">
            <a:extLst xmlns:a="http://schemas.openxmlformats.org/drawingml/2006/main">
              <a:ext uri="{FF2B5EF4-FFF2-40B4-BE49-F238E27FC236}">
                <a16:creationId xmlns:a16="http://schemas.microsoft.com/office/drawing/2014/main" id="{A0E2641B-F1E8-4E74-B8A1-E77E462E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86025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标准处理</a:t>
            </a:r>
          </a:p>
        </p:txBody>
      </p:sp>
      <p:sp>
        <p:nvSpPr>
          <p:cNvPr id="11" name="point-2-body">
            <a:extLst xmlns:a="http://schemas.openxmlformats.org/drawingml/2006/main">
              <a:ext uri="{FF2B5EF4-FFF2-40B4-BE49-F238E27FC236}">
                <a16:creationId xmlns:a16="http://schemas.microsoft.com/office/drawing/2014/main" id="{57E9C270-FB09-41FC-996F-401A870D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81325"/>
            <a:ext cx="5191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每条投稿都经历任务识别、内容抓取、洗稿与结果确认。</a:t>
            </a:r>
          </a:p>
        </p:txBody>
      </p:sp>
      <p:sp>
        <p:nvSpPr>
          <p:cNvPr id="12" name="point-3-num">
            <a:extLst xmlns:a="http://schemas.openxmlformats.org/drawingml/2006/main">
              <a:ext uri="{FF2B5EF4-FFF2-40B4-BE49-F238E27FC236}">
                <a16:creationId xmlns:a16="http://schemas.microsoft.com/office/drawing/2014/main" id="{D47495C3-9943-44C8-BA45-FB462CA5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46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468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oint-3-rule">
            <a:extLst xmlns:a="http://schemas.openxmlformats.org/drawingml/2006/main">
              <a:ext uri="{FF2B5EF4-FFF2-40B4-BE49-F238E27FC236}">
                <a16:creationId xmlns:a16="http://schemas.microsoft.com/office/drawing/2014/main" id="{24105147-B102-4FAF-84F3-4031B560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519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point-3-title">
            <a:extLst xmlns:a="http://schemas.openxmlformats.org/drawingml/2006/main">
              <a:ext uri="{FF2B5EF4-FFF2-40B4-BE49-F238E27FC236}">
                <a16:creationId xmlns:a16="http://schemas.microsoft.com/office/drawing/2014/main" id="{49959E2B-FB54-437B-8D0F-AED62ADE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24400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可追溯</a:t>
            </a:r>
          </a:p>
        </p:txBody>
      </p:sp>
      <p:sp>
        <p:nvSpPr>
          <p:cNvPr id="15" name="point-3-body">
            <a:extLst xmlns:a="http://schemas.openxmlformats.org/drawingml/2006/main">
              <a:ext uri="{FF2B5EF4-FFF2-40B4-BE49-F238E27FC236}">
                <a16:creationId xmlns:a16="http://schemas.microsoft.com/office/drawing/2014/main" id="{1C52E612-91B4-4C45-A698-6D68308D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191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任务、素材、产物和发布结果形成连续档案，便于复盘与交接。</a:t>
            </a:r>
          </a:p>
        </p:txBody>
      </p:sp>
      <p:sp>
        <p:nvSpPr>
          <p:cNvPr id="16" name="point-4-num">
            <a:extLst xmlns:a="http://schemas.openxmlformats.org/drawingml/2006/main">
              <a:ext uri="{FF2B5EF4-FFF2-40B4-BE49-F238E27FC236}">
                <a16:creationId xmlns:a16="http://schemas.microsoft.com/office/drawing/2014/main" id="{1E2EB4E7-EBCD-4A9A-A810-796C3152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910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point-4-rule">
            <a:extLst xmlns:a="http://schemas.openxmlformats.org/drawingml/2006/main">
              <a:ext uri="{FF2B5EF4-FFF2-40B4-BE49-F238E27FC236}">
                <a16:creationId xmlns:a16="http://schemas.microsoft.com/office/drawing/2014/main" id="{06A558FD-BDF2-42E5-B334-376268B7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52950"/>
            <a:ext cx="519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point-4-title">
            <a:extLst xmlns:a="http://schemas.openxmlformats.org/drawingml/2006/main">
              <a:ext uri="{FF2B5EF4-FFF2-40B4-BE49-F238E27FC236}">
                <a16:creationId xmlns:a16="http://schemas.microsoft.com/office/drawing/2014/main" id="{2EA572B9-4E89-4622-891D-F1FBE478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24400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可控发布</a:t>
            </a:r>
          </a:p>
        </p:txBody>
      </p:sp>
      <p:sp>
        <p:nvSpPr>
          <p:cNvPr id="19" name="point-4-body">
            <a:extLst xmlns:a="http://schemas.openxmlformats.org/drawingml/2006/main">
              <a:ext uri="{FF2B5EF4-FFF2-40B4-BE49-F238E27FC236}">
                <a16:creationId xmlns:a16="http://schemas.microsoft.com/office/drawing/2014/main" id="{86BD2196-538A-48A8-A1B8-351439D3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19700"/>
            <a:ext cx="5191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自动化负责执行，管理者保留是否公开发布的最终决定。</a:t>
            </a:r>
          </a:p>
        </p:txBody>
      </p:sp>
    </p:spTree>
    <p:extLst>
      <p:ext uri="{BB962C8B-B14F-4D97-AF65-F5344CB8AC3E}">
        <p14:creationId xmlns:p14="http://schemas.microsoft.com/office/powerpoint/2010/main" val="17669804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6-kicker">
            <a:extLst xmlns:a="http://schemas.openxmlformats.org/drawingml/2006/main">
              <a:ext uri="{FF2B5EF4-FFF2-40B4-BE49-F238E27FC236}">
                <a16:creationId xmlns:a16="http://schemas.microsoft.com/office/drawing/2014/main" id="{0360648E-33B2-4530-8B37-45C5A6CD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微信内容发布秘书处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4AE2CC51-D0E7-4C69-A8C2-9AD9DD76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自动化越深入，越需要把权限与责任留在人手里</a:t>
            </a:r>
          </a:p>
        </p:txBody>
      </p:sp>
      <p:sp>
        <p:nvSpPr>
          <p:cNvPr id="3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28701F70-4ACC-4DCE-A867-5A85FAD3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governance-claim">
            <a:extLst xmlns:a="http://schemas.openxmlformats.org/drawingml/2006/main">
              <a:ext uri="{FF2B5EF4-FFF2-40B4-BE49-F238E27FC236}">
                <a16:creationId xmlns:a16="http://schemas.microsoft.com/office/drawing/2014/main" id="{AFC34775-A802-477F-874A-5DD50DB6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61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964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Agent 可以连续执行，但不能自行扩大任务范围或发布权限。</a:t>
            </a:r>
          </a:p>
        </p:txBody>
      </p:sp>
      <p:sp>
        <p:nvSpPr>
          <p:cNvPr id="5" name="governance-explainer">
            <a:extLst xmlns:a="http://schemas.openxmlformats.org/drawingml/2006/main">
              <a:ext uri="{FF2B5EF4-FFF2-40B4-BE49-F238E27FC236}">
                <a16:creationId xmlns:a16="http://schemas.microsoft.com/office/drawing/2014/main" id="{13A7F9ED-CD48-40CB-8CB5-20A09B69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秘书处的核心不是“无人值守”，而是让人工判断发生在正确的节点。</a:t>
            </a:r>
          </a:p>
        </p:txBody>
      </p:sp>
      <p:sp>
        <p:nvSpPr>
          <p:cNvPr id="6" name="governance-check-1">
            <a:extLst xmlns:a="http://schemas.openxmlformats.org/drawingml/2006/main">
              <a:ext uri="{FF2B5EF4-FFF2-40B4-BE49-F238E27FC236}">
                <a16:creationId xmlns:a16="http://schemas.microsoft.com/office/drawing/2014/main" id="{42392D01-1F51-452A-919A-09869E83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907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overnance-checkmark-1">
            <a:extLst xmlns:a="http://schemas.openxmlformats.org/drawingml/2006/main">
              <a:ext uri="{FF2B5EF4-FFF2-40B4-BE49-F238E27FC236}">
                <a16:creationId xmlns:a16="http://schemas.microsoft.com/office/drawing/2014/main" id="{6949EBAC-E537-49AB-B55B-C7892CEF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8288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governance-title-1">
            <a:extLst xmlns:a="http://schemas.openxmlformats.org/drawingml/2006/main">
              <a:ext uri="{FF2B5EF4-FFF2-40B4-BE49-F238E27FC236}">
                <a16:creationId xmlns:a16="http://schemas.microsoft.com/office/drawing/2014/main" id="{CFAC1457-ECC3-4768-B11A-85E81D7F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621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发布默认关闭</a:t>
            </a:r>
          </a:p>
        </p:txBody>
      </p:sp>
      <p:sp>
        <p:nvSpPr>
          <p:cNvPr id="9" name="governance-body-1">
            <a:extLst xmlns:a="http://schemas.openxmlformats.org/drawingml/2006/main">
              <a:ext uri="{FF2B5EF4-FFF2-40B4-BE49-F238E27FC236}">
                <a16:creationId xmlns:a16="http://schemas.microsoft.com/office/drawing/2014/main" id="{4E046278-3D7C-4108-BB12-37BA78EE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没有明确授权，就不调用 Blog。</a:t>
            </a:r>
          </a:p>
        </p:txBody>
      </p:sp>
      <p:sp>
        <p:nvSpPr>
          <p:cNvPr id="10" name="governance-check-2">
            <a:extLst xmlns:a="http://schemas.openxmlformats.org/drawingml/2006/main">
              <a:ext uri="{FF2B5EF4-FFF2-40B4-BE49-F238E27FC236}">
                <a16:creationId xmlns:a16="http://schemas.microsoft.com/office/drawing/2014/main" id="{EAF92B05-30DF-41F5-9DDA-4425E489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overnance-checkmark-2">
            <a:extLst xmlns:a="http://schemas.openxmlformats.org/drawingml/2006/main">
              <a:ext uri="{FF2B5EF4-FFF2-40B4-BE49-F238E27FC236}">
                <a16:creationId xmlns:a16="http://schemas.microsoft.com/office/drawing/2014/main" id="{423DC93D-0B43-48D8-8419-A311890A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8003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governance-title-2">
            <a:extLst xmlns:a="http://schemas.openxmlformats.org/drawingml/2006/main">
              <a:ext uri="{FF2B5EF4-FFF2-40B4-BE49-F238E27FC236}">
                <a16:creationId xmlns:a16="http://schemas.microsoft.com/office/drawing/2014/main" id="{2DFD2B26-1B1B-4BC5-9B01-153316E2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336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处理与发布分离</a:t>
            </a:r>
          </a:p>
        </p:txBody>
      </p:sp>
      <p:sp>
        <p:nvSpPr>
          <p:cNvPr id="13" name="governance-body-2">
            <a:extLst xmlns:a="http://schemas.openxmlformats.org/drawingml/2006/main">
              <a:ext uri="{FF2B5EF4-FFF2-40B4-BE49-F238E27FC236}">
                <a16:creationId xmlns:a16="http://schemas.microsoft.com/office/drawing/2014/main" id="{A9F49107-9F51-4C7B-A839-245B7FAD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146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洗稿完成不代表必须公开。</a:t>
            </a:r>
          </a:p>
        </p:txBody>
      </p:sp>
      <p:sp>
        <p:nvSpPr>
          <p:cNvPr id="14" name="governance-check-3">
            <a:extLst xmlns:a="http://schemas.openxmlformats.org/drawingml/2006/main">
              <a:ext uri="{FF2B5EF4-FFF2-40B4-BE49-F238E27FC236}">
                <a16:creationId xmlns:a16="http://schemas.microsoft.com/office/drawing/2014/main" id="{804B44FD-1936-40FA-98CE-29BECBD9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338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overnance-checkmark-3">
            <a:extLst xmlns:a="http://schemas.openxmlformats.org/drawingml/2006/main">
              <a:ext uri="{FF2B5EF4-FFF2-40B4-BE49-F238E27FC236}">
                <a16:creationId xmlns:a16="http://schemas.microsoft.com/office/drawing/2014/main" id="{5495DDF7-4FA9-40F9-9EEA-E217A9D8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7719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governance-title-3">
            <a:extLst xmlns:a="http://schemas.openxmlformats.org/drawingml/2006/main">
              <a:ext uri="{FF2B5EF4-FFF2-40B4-BE49-F238E27FC236}">
                <a16:creationId xmlns:a16="http://schemas.microsoft.com/office/drawing/2014/main" id="{2A666E82-CE62-4308-BBBC-63C4BDB9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052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不完整任务不猜测</a:t>
            </a:r>
          </a:p>
        </p:txBody>
      </p:sp>
      <p:sp>
        <p:nvSpPr>
          <p:cNvPr id="17" name="governance-body-3">
            <a:extLst xmlns:a="http://schemas.openxmlformats.org/drawingml/2006/main">
              <a:ext uri="{FF2B5EF4-FFF2-40B4-BE49-F238E27FC236}">
                <a16:creationId xmlns:a16="http://schemas.microsoft.com/office/drawing/2014/main" id="{3E34E8D2-54A4-4749-8B68-2C7B17EC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862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缺少关键信息时，回到人工补充。</a:t>
            </a:r>
          </a:p>
        </p:txBody>
      </p:sp>
      <p:sp>
        <p:nvSpPr>
          <p:cNvPr id="18" name="governance-check-4">
            <a:extLst xmlns:a="http://schemas.openxmlformats.org/drawingml/2006/main">
              <a:ext uri="{FF2B5EF4-FFF2-40B4-BE49-F238E27FC236}">
                <a16:creationId xmlns:a16="http://schemas.microsoft.com/office/drawing/2014/main" id="{D6D274C4-400B-49F8-A0AD-1C799DBA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053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overnance-checkmark-4">
            <a:extLst xmlns:a="http://schemas.openxmlformats.org/drawingml/2006/main">
              <a:ext uri="{FF2B5EF4-FFF2-40B4-BE49-F238E27FC236}">
                <a16:creationId xmlns:a16="http://schemas.microsoft.com/office/drawing/2014/main" id="{9D87B4DC-523E-48F9-8A25-A7F472BD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7434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governance-title-4">
            <a:extLst xmlns:a="http://schemas.openxmlformats.org/drawingml/2006/main">
              <a:ext uri="{FF2B5EF4-FFF2-40B4-BE49-F238E27FC236}">
                <a16:creationId xmlns:a16="http://schemas.microsoft.com/office/drawing/2014/main" id="{DF0B3C9B-97A3-4C2A-8C95-288C0B04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767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中断可恢复</a:t>
            </a:r>
          </a:p>
        </p:txBody>
      </p:sp>
      <p:sp>
        <p:nvSpPr>
          <p:cNvPr id="21" name="governance-body-4">
            <a:extLst xmlns:a="http://schemas.openxmlformats.org/drawingml/2006/main">
              <a:ext uri="{FF2B5EF4-FFF2-40B4-BE49-F238E27FC236}">
                <a16:creationId xmlns:a16="http://schemas.microsoft.com/office/drawing/2014/main" id="{9301DB4A-EC38-46D6-A247-0DC6B939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0577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历史记录保留，避免盲目重复执行。</a:t>
            </a:r>
          </a:p>
        </p:txBody>
      </p:sp>
      <p:sp>
        <p:nvSpPr>
          <p:cNvPr id="22" name="governance-divider">
            <a:extLst xmlns:a="http://schemas.openxmlformats.org/drawingml/2006/main">
              <a:ext uri="{FF2B5EF4-FFF2-40B4-BE49-F238E27FC236}">
                <a16:creationId xmlns:a16="http://schemas.microsoft.com/office/drawing/2014/main" id="{F9BB3C39-D020-444C-897C-A2C43986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66875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53276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7-kicker">
            <a:extLst xmlns:a="http://schemas.openxmlformats.org/drawingml/2006/main">
              <a:ext uri="{FF2B5EF4-FFF2-40B4-BE49-F238E27FC236}">
                <a16:creationId xmlns:a16="http://schemas.microsoft.com/office/drawing/2014/main" id="{A591D0E7-83D6-4DC6-916B-44DF8276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微信内容发布秘书处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923AB635-4450-4BB0-8EA6-8355DFBF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核心链路已经跑通，但项目仍处于受控验证阶段</a:t>
            </a:r>
          </a:p>
        </p:txBody>
      </p:sp>
      <p:sp>
        <p:nvSpPr>
          <p:cNvPr id="3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D1A060E4-C23A-46D2-A4E4-04D53E63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progress-verified-area">
            <a:extLst xmlns:a="http://schemas.openxmlformats.org/drawingml/2006/main">
              <a:ext uri="{FF2B5EF4-FFF2-40B4-BE49-F238E27FC236}">
                <a16:creationId xmlns:a16="http://schemas.microsoft.com/office/drawing/2014/main" id="{C88E499B-AB55-4B96-96CF-148F13F5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2387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11430">
            <a:solidFill>
              <a:srgbClr val="8BCBB7"/>
            </a:solidFill>
            <a:prstDash val="solid"/>
          </a:ln>
        </p:spPr>
      </p:sp>
      <p:sp>
        <p:nvSpPr>
          <p:cNvPr id="5" name="progress-verified-title">
            <a:extLst xmlns:a="http://schemas.openxmlformats.org/drawingml/2006/main">
              <a:ext uri="{FF2B5EF4-FFF2-40B4-BE49-F238E27FC236}">
                <a16:creationId xmlns:a16="http://schemas.microsoft.com/office/drawing/2014/main" id="{30446A2D-CB08-44BF-83EF-C79A475C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8C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18C6B"/>
                </a:solidFill>
                <a:latin typeface="Arial"/>
                <a:ea typeface="Arial"/>
                <a:cs typeface="Arial"/>
              </a:rPr>
              <a:t>已验证</a:t>
            </a:r>
          </a:p>
        </p:txBody>
      </p:sp>
      <p:sp>
        <p:nvSpPr>
          <p:cNvPr id="6" name="verified-item-1">
            <a:extLst xmlns:a="http://schemas.openxmlformats.org/drawingml/2006/main">
              <a:ext uri="{FF2B5EF4-FFF2-40B4-BE49-F238E27FC236}">
                <a16:creationId xmlns:a16="http://schemas.microsoft.com/office/drawing/2014/main" id="{F75335EB-81DD-4EBB-86EE-AA8235CC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✓  真实微信文章完整抓取</a:t>
            </a:r>
          </a:p>
        </p:txBody>
      </p:sp>
      <p:sp>
        <p:nvSpPr>
          <p:cNvPr id="7" name="verified-item-2">
            <a:extLst xmlns:a="http://schemas.openxmlformats.org/drawingml/2006/main">
              <a:ext uri="{FF2B5EF4-FFF2-40B4-BE49-F238E27FC236}">
                <a16:creationId xmlns:a16="http://schemas.microsoft.com/office/drawing/2014/main" id="{768FA53D-7202-421E-A5DD-0D61C65E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✓  真实 Agent 洗稿并生成产物</a:t>
            </a:r>
          </a:p>
        </p:txBody>
      </p:sp>
      <p:sp>
        <p:nvSpPr>
          <p:cNvPr id="8" name="verified-item-3">
            <a:extLst xmlns:a="http://schemas.openxmlformats.org/drawingml/2006/main">
              <a:ext uri="{FF2B5EF4-FFF2-40B4-BE49-F238E27FC236}">
                <a16:creationId xmlns:a16="http://schemas.microsoft.com/office/drawing/2014/main" id="{26D4EF9A-955B-43C0-BDDD-7EA2BB6C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✓  真实 Blog 自动发布并返回可访问地址</a:t>
            </a:r>
          </a:p>
        </p:txBody>
      </p:sp>
      <p:sp>
        <p:nvSpPr>
          <p:cNvPr id="9" name="progress-remaining-area">
            <a:extLst xmlns:a="http://schemas.openxmlformats.org/drawingml/2006/main">
              <a:ext uri="{FF2B5EF4-FFF2-40B4-BE49-F238E27FC236}">
                <a16:creationId xmlns:a16="http://schemas.microsoft.com/office/drawing/2014/main" id="{4C768E33-4E55-4F3C-A820-64F21DA8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56959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1430">
            <a:solidFill>
              <a:srgbClr val="E7C08C"/>
            </a:solidFill>
            <a:prstDash val="solid"/>
          </a:ln>
        </p:spPr>
      </p:sp>
      <p:sp>
        <p:nvSpPr>
          <p:cNvPr id="10" name="progress-remaining-title">
            <a:extLst xmlns:a="http://schemas.openxmlformats.org/drawingml/2006/main">
              <a:ext uri="{FF2B5EF4-FFF2-40B4-BE49-F238E27FC236}">
                <a16:creationId xmlns:a16="http://schemas.microsoft.com/office/drawing/2014/main" id="{C33D8223-2AC6-4355-A516-4F57C45D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25A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25A00"/>
                </a:solidFill>
                <a:latin typeface="Arial"/>
                <a:ea typeface="Arial"/>
                <a:cs typeface="Arial"/>
              </a:rPr>
              <a:t>正式上线前仍需完成</a:t>
            </a:r>
          </a:p>
        </p:txBody>
      </p:sp>
      <p:sp>
        <p:nvSpPr>
          <p:cNvPr id="11" name="remaining-item-1">
            <a:extLst xmlns:a="http://schemas.openxmlformats.org/drawingml/2006/main">
              <a:ext uri="{FF2B5EF4-FFF2-40B4-BE49-F238E27FC236}">
                <a16:creationId xmlns:a16="http://schemas.microsoft.com/office/drawing/2014/main" id="{99F1A984-5BF7-4291-9C6F-1C97788B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○  多任务真实场景矩阵</a:t>
            </a:r>
          </a:p>
        </p:txBody>
      </p:sp>
      <p:sp>
        <p:nvSpPr>
          <p:cNvPr id="12" name="remaining-item-2">
            <a:extLst xmlns:a="http://schemas.openxmlformats.org/drawingml/2006/main">
              <a:ext uri="{FF2B5EF4-FFF2-40B4-BE49-F238E27FC236}">
                <a16:creationId xmlns:a16="http://schemas.microsoft.com/office/drawing/2014/main" id="{5586F569-4B63-44E5-9E5A-FE1D8A94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○  正式洗稿规范审批</a:t>
            </a:r>
          </a:p>
        </p:txBody>
      </p:sp>
      <p:sp>
        <p:nvSpPr>
          <p:cNvPr id="13" name="remaining-item-3">
            <a:extLst xmlns:a="http://schemas.openxmlformats.org/drawingml/2006/main">
              <a:ext uri="{FF2B5EF4-FFF2-40B4-BE49-F238E27FC236}">
                <a16:creationId xmlns:a16="http://schemas.microsoft.com/office/drawing/2014/main" id="{F05F6709-0E2A-4F15-B3C0-7953A349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672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○  组合失败与重试验收</a:t>
            </a:r>
          </a:p>
        </p:txBody>
      </p:sp>
      <p:sp>
        <p:nvSpPr>
          <p:cNvPr id="14" name="progress-status">
            <a:extLst xmlns:a="http://schemas.openxmlformats.org/drawingml/2006/main">
              <a:ext uri="{FF2B5EF4-FFF2-40B4-BE49-F238E27FC236}">
                <a16:creationId xmlns:a16="http://schemas.microsoft.com/office/drawing/2014/main" id="{3349A502-9716-4DD7-B9FF-9D19D078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当前判断：核心能力已验证，尚未正式上线</a:t>
            </a:r>
          </a:p>
        </p:txBody>
      </p:sp>
    </p:spTree>
    <p:extLst>
      <p:ext uri="{BB962C8B-B14F-4D97-AF65-F5344CB8AC3E}">
        <p14:creationId xmlns:p14="http://schemas.microsoft.com/office/powerpoint/2010/main" val="12241421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8-kicker">
            <a:extLst xmlns:a="http://schemas.openxmlformats.org/drawingml/2006/main">
              <a:ext uri="{FF2B5EF4-FFF2-40B4-BE49-F238E27FC236}">
                <a16:creationId xmlns:a16="http://schemas.microsoft.com/office/drawing/2014/main" id="{F115086D-9D6D-4848-9A07-56971DE5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微信内容发布秘书处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DF6C4B00-BDBF-4EA7-B6C8-D381C128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建议进入小范围试运行，而不是直接全面上线</a:t>
            </a:r>
          </a:p>
        </p:txBody>
      </p:sp>
      <p:sp>
        <p:nvSpPr>
          <p:cNvPr id="3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F6EF3505-3C9B-4F7C-B605-9CFA7ADB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pilot-timeline">
            <a:extLst xmlns:a="http://schemas.openxmlformats.org/drawingml/2006/main">
              <a:ext uri="{FF2B5EF4-FFF2-40B4-BE49-F238E27FC236}">
                <a16:creationId xmlns:a16="http://schemas.microsoft.com/office/drawing/2014/main" id="{C72E3E25-1AE6-42FF-8C8A-1AE66101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5" name="pilot-dot-1">
            <a:extLst xmlns:a="http://schemas.openxmlformats.org/drawingml/2006/main">
              <a:ext uri="{FF2B5EF4-FFF2-40B4-BE49-F238E27FC236}">
                <a16:creationId xmlns:a16="http://schemas.microsoft.com/office/drawing/2014/main" id="{54CD6921-D1C4-4B5A-A122-16B823DF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623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ilot-num-1">
            <a:extLst xmlns:a="http://schemas.openxmlformats.org/drawingml/2006/main">
              <a:ext uri="{FF2B5EF4-FFF2-40B4-BE49-F238E27FC236}">
                <a16:creationId xmlns:a16="http://schemas.microsoft.com/office/drawing/2014/main" id="{B6007C06-170B-48CB-B257-A5E28986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289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ilot-title-1">
            <a:extLst xmlns:a="http://schemas.openxmlformats.org/drawingml/2006/main">
              <a:ext uri="{FF2B5EF4-FFF2-40B4-BE49-F238E27FC236}">
                <a16:creationId xmlns:a16="http://schemas.microsoft.com/office/drawing/2014/main" id="{505CC30E-E93E-4C28-BEAD-77AB5BF4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限定试运行范围</a:t>
            </a:r>
          </a:p>
        </p:txBody>
      </p:sp>
      <p:sp>
        <p:nvSpPr>
          <p:cNvPr id="8" name="pilot-body-1">
            <a:extLst xmlns:a="http://schemas.openxmlformats.org/drawingml/2006/main">
              <a:ext uri="{FF2B5EF4-FFF2-40B4-BE49-F238E27FC236}">
                <a16:creationId xmlns:a16="http://schemas.microsoft.com/office/drawing/2014/main" id="{AAEF2883-DD69-49CC-9394-D28042CA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2714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固定用户、固定运营人员、有限内容类型</a:t>
            </a:r>
          </a:p>
        </p:txBody>
      </p:sp>
      <p:sp>
        <p:nvSpPr>
          <p:cNvPr id="9" name="pilot-dot-2">
            <a:extLst xmlns:a="http://schemas.openxmlformats.org/drawingml/2006/main">
              <a:ext uri="{FF2B5EF4-FFF2-40B4-BE49-F238E27FC236}">
                <a16:creationId xmlns:a16="http://schemas.microsoft.com/office/drawing/2014/main" id="{BD0AC3BC-F572-41DA-B876-031CCCDF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623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ilot-num-2">
            <a:extLst xmlns:a="http://schemas.openxmlformats.org/drawingml/2006/main">
              <a:ext uri="{FF2B5EF4-FFF2-40B4-BE49-F238E27FC236}">
                <a16:creationId xmlns:a16="http://schemas.microsoft.com/office/drawing/2014/main" id="{EBAF4969-EC01-4527-864C-FFF28547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289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pilot-title-2">
            <a:extLst xmlns:a="http://schemas.openxmlformats.org/drawingml/2006/main">
              <a:ext uri="{FF2B5EF4-FFF2-40B4-BE49-F238E27FC236}">
                <a16:creationId xmlns:a16="http://schemas.microsoft.com/office/drawing/2014/main" id="{0CC293BB-2667-40AD-95C0-BFBC7990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909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补齐管理规则</a:t>
            </a:r>
          </a:p>
        </p:txBody>
      </p:sp>
      <p:sp>
        <p:nvSpPr>
          <p:cNvPr id="12" name="pilot-body-2">
            <a:extLst xmlns:a="http://schemas.openxmlformats.org/drawingml/2006/main">
              <a:ext uri="{FF2B5EF4-FFF2-40B4-BE49-F238E27FC236}">
                <a16:creationId xmlns:a16="http://schemas.microsoft.com/office/drawing/2014/main" id="{69F7D933-183F-43F4-999F-6D28F491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33875"/>
            <a:ext cx="2714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洗稿边界、发布权限、异常处理与责任人</a:t>
            </a:r>
          </a:p>
        </p:txBody>
      </p:sp>
      <p:sp>
        <p:nvSpPr>
          <p:cNvPr id="13" name="pilot-dot-3">
            <a:extLst xmlns:a="http://schemas.openxmlformats.org/drawingml/2006/main">
              <a:ext uri="{FF2B5EF4-FFF2-40B4-BE49-F238E27FC236}">
                <a16:creationId xmlns:a16="http://schemas.microsoft.com/office/drawing/2014/main" id="{878C1105-0231-4806-A813-F7730333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623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ilot-num-3">
            <a:extLst xmlns:a="http://schemas.openxmlformats.org/drawingml/2006/main">
              <a:ext uri="{FF2B5EF4-FFF2-40B4-BE49-F238E27FC236}">
                <a16:creationId xmlns:a16="http://schemas.microsoft.com/office/drawing/2014/main" id="{689C2AF3-8EF2-4F65-BA80-CF5D5032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289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pilot-title-3">
            <a:extLst xmlns:a="http://schemas.openxmlformats.org/drawingml/2006/main">
              <a:ext uri="{FF2B5EF4-FFF2-40B4-BE49-F238E27FC236}">
                <a16:creationId xmlns:a16="http://schemas.microsoft.com/office/drawing/2014/main" id="{F18F2893-17FA-468F-8149-836CB14F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909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达成上线门槛</a:t>
            </a:r>
          </a:p>
        </p:txBody>
      </p:sp>
      <p:sp>
        <p:nvSpPr>
          <p:cNvPr id="16" name="pilot-body-3">
            <a:extLst xmlns:a="http://schemas.openxmlformats.org/drawingml/2006/main">
              <a:ext uri="{FF2B5EF4-FFF2-40B4-BE49-F238E27FC236}">
                <a16:creationId xmlns:a16="http://schemas.microsoft.com/office/drawing/2014/main" id="{8E6028BF-BEFF-4C8C-AAF5-DD604301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33875"/>
            <a:ext cx="2714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多任务验收通过，关键风险关闭并完成复盘</a:t>
            </a:r>
          </a:p>
        </p:txBody>
      </p:sp>
      <p:sp>
        <p:nvSpPr>
          <p:cNvPr id="17" name="pilot-decision">
            <a:extLst xmlns:a="http://schemas.openxmlformats.org/drawingml/2006/main">
              <a:ext uri="{FF2B5EF4-FFF2-40B4-BE49-F238E27FC236}">
                <a16:creationId xmlns:a16="http://schemas.microsoft.com/office/drawing/2014/main" id="{40562503-F422-40FE-A186-5909DFF4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需要管理层确认：试运行范围  ·  内容规范负责人  ·  发布授权人</a:t>
            </a:r>
          </a:p>
        </p:txBody>
      </p:sp>
      <p:sp>
        <p:nvSpPr>
          <p:cNvPr id="18" name="pilot-close">
            <a:extLst xmlns:a="http://schemas.openxmlformats.org/drawingml/2006/main">
              <a:ext uri="{FF2B5EF4-FFF2-40B4-BE49-F238E27FC236}">
                <a16:creationId xmlns:a16="http://schemas.microsoft.com/office/drawing/2014/main" id="{2140C102-4672-49B9-9AC8-378E5020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目标：先形成稳定的运营闭环，再扩大使用范围。</a:t>
            </a:r>
          </a:p>
        </p:txBody>
      </p:sp>
    </p:spTree>
    <p:extLst>
      <p:ext uri="{BB962C8B-B14F-4D97-AF65-F5344CB8AC3E}">
        <p14:creationId xmlns:p14="http://schemas.microsoft.com/office/powerpoint/2010/main" val="1226262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2026-07-27T20:17:44.8080000Z</dcterms:created>
  <dcterms:modified xsi:type="dcterms:W3CDTF">2026-07-27T20:17:44.8080000Z</dcterms:modified>
</coreProperties>
</file>